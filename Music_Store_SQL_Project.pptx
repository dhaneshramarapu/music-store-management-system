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83" r:id="rId4"/>
    <p:sldId id="288" r:id="rId5"/>
    <p:sldId id="259" r:id="rId6"/>
    <p:sldId id="285" r:id="rId7"/>
    <p:sldId id="277" r:id="rId8"/>
    <p:sldId id="280" r:id="rId9"/>
    <p:sldId id="281" r:id="rId10"/>
    <p:sldId id="282" r:id="rId11"/>
    <p:sldId id="279" r:id="rId12"/>
    <p:sldId id="260" r:id="rId13"/>
    <p:sldId id="261" r:id="rId14"/>
    <p:sldId id="264" r:id="rId15"/>
    <p:sldId id="265" r:id="rId16"/>
    <p:sldId id="266" r:id="rId17"/>
    <p:sldId id="267" r:id="rId18"/>
    <p:sldId id="268" r:id="rId19"/>
    <p:sldId id="269" r:id="rId20"/>
    <p:sldId id="270" r:id="rId21"/>
    <p:sldId id="271" r:id="rId22"/>
    <p:sldId id="289" r:id="rId23"/>
    <p:sldId id="286" r:id="rId24"/>
    <p:sldId id="276" r:id="rId25"/>
    <p:sldId id="291"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1" autoAdjust="0"/>
    <p:restoredTop sz="94610"/>
  </p:normalViewPr>
  <p:slideViewPr>
    <p:cSldViewPr snapToGrid="0" snapToObjects="1">
      <p:cViewPr varScale="1">
        <p:scale>
          <a:sx n="113" d="100"/>
          <a:sy n="113" d="100"/>
        </p:scale>
        <p:origin x="629"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4717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 name="Text 5"/>
          <p:cNvSpPr/>
          <p:nvPr/>
        </p:nvSpPr>
        <p:spPr>
          <a:xfrm>
            <a:off x="274320" y="1097280"/>
            <a:ext cx="3291840" cy="457200"/>
          </a:xfrm>
          <a:prstGeom prst="rect">
            <a:avLst/>
          </a:prstGeom>
          <a:noFill/>
          <a:ln/>
        </p:spPr>
        <p:txBody>
          <a:bodyPr wrap="square" rtlCol="0" anchor="ctr"/>
          <a:lstStyle/>
          <a:p>
            <a:pPr marL="0" indent="0">
              <a:buNone/>
            </a:pPr>
            <a:endParaRPr lang="en-US" sz="1100" dirty="0"/>
          </a:p>
        </p:txBody>
      </p:sp>
      <p:sp>
        <p:nvSpPr>
          <p:cNvPr id="8" name="Text 6"/>
          <p:cNvSpPr/>
          <p:nvPr/>
        </p:nvSpPr>
        <p:spPr>
          <a:xfrm>
            <a:off x="274320" y="1554480"/>
            <a:ext cx="3291840" cy="1645920"/>
          </a:xfrm>
          <a:prstGeom prst="rect">
            <a:avLst/>
          </a:prstGeom>
          <a:noFill/>
          <a:ln/>
        </p:spPr>
        <p:txBody>
          <a:bodyPr wrap="square" rtlCol="0" anchor="ctr"/>
          <a:lstStyle/>
          <a:p>
            <a:pPr marL="0" indent="0">
              <a:lnSpc>
                <a:spcPct val="120000"/>
              </a:lnSpc>
              <a:buNone/>
            </a:pPr>
            <a:r>
              <a:rPr lang="en-US" sz="2800" b="1" dirty="0">
                <a:solidFill>
                  <a:srgbClr val="FFFFFF"/>
                </a:solidFill>
              </a:rPr>
              <a:t>Music Store</a:t>
            </a:r>
            <a:endParaRPr lang="en-US" sz="2800" dirty="0"/>
          </a:p>
          <a:p>
            <a:pPr marL="0" indent="0">
              <a:lnSpc>
                <a:spcPct val="120000"/>
              </a:lnSpc>
              <a:buNone/>
            </a:pPr>
            <a:r>
              <a:rPr lang="en-US" sz="2800" b="1" dirty="0">
                <a:solidFill>
                  <a:srgbClr val="FFFFFF"/>
                </a:solidFill>
              </a:rPr>
              <a:t>Data Analysis</a:t>
            </a:r>
            <a:endParaRPr lang="en-US" sz="2800" dirty="0"/>
          </a:p>
        </p:txBody>
      </p:sp>
      <p:sp>
        <p:nvSpPr>
          <p:cNvPr id="10" name="Text 8"/>
          <p:cNvSpPr/>
          <p:nvPr/>
        </p:nvSpPr>
        <p:spPr>
          <a:xfrm>
            <a:off x="274320" y="3383280"/>
            <a:ext cx="3291840" cy="365760"/>
          </a:xfrm>
          <a:prstGeom prst="rect">
            <a:avLst/>
          </a:prstGeom>
          <a:noFill/>
          <a:ln/>
        </p:spPr>
        <p:txBody>
          <a:bodyPr wrap="square" rtlCol="0" anchor="ctr"/>
          <a:lstStyle/>
          <a:p>
            <a:pPr marL="0" indent="0">
              <a:buNone/>
            </a:pPr>
            <a:endParaRPr lang="en-US" sz="1100" dirty="0"/>
          </a:p>
        </p:txBody>
      </p:sp>
      <p:sp>
        <p:nvSpPr>
          <p:cNvPr id="11" name="Text 9"/>
          <p:cNvSpPr/>
          <p:nvPr/>
        </p:nvSpPr>
        <p:spPr>
          <a:xfrm>
            <a:off x="274320" y="3840480"/>
            <a:ext cx="3291840" cy="320040"/>
          </a:xfrm>
          <a:prstGeom prst="rect">
            <a:avLst/>
          </a:prstGeom>
          <a:noFill/>
          <a:ln/>
        </p:spPr>
        <p:txBody>
          <a:bodyPr wrap="square" rtlCol="0" anchor="ctr"/>
          <a:lstStyle/>
          <a:p>
            <a:pPr marL="0" indent="0">
              <a:buNone/>
            </a:pPr>
            <a:endParaRPr lang="en-US" sz="1000" dirty="0"/>
          </a:p>
        </p:txBody>
      </p:sp>
      <p:sp>
        <p:nvSpPr>
          <p:cNvPr id="12" name="Text 10"/>
          <p:cNvSpPr/>
          <p:nvPr/>
        </p:nvSpPr>
        <p:spPr>
          <a:xfrm>
            <a:off x="4389120" y="1645920"/>
            <a:ext cx="4389120" cy="640080"/>
          </a:xfrm>
          <a:prstGeom prst="rect">
            <a:avLst/>
          </a:prstGeom>
          <a:noFill/>
          <a:ln/>
        </p:spPr>
        <p:txBody>
          <a:bodyPr wrap="square" rtlCol="0" anchor="ctr"/>
          <a:lstStyle/>
          <a:p>
            <a:pPr marL="0" indent="0">
              <a:buNone/>
            </a:pPr>
            <a:endParaRPr lang="en-US" sz="3200" dirty="0"/>
          </a:p>
        </p:txBody>
      </p:sp>
      <p:sp>
        <p:nvSpPr>
          <p:cNvPr id="15" name="Text 13"/>
          <p:cNvSpPr/>
          <p:nvPr/>
        </p:nvSpPr>
        <p:spPr>
          <a:xfrm>
            <a:off x="2657302" y="2834640"/>
            <a:ext cx="4389120" cy="320040"/>
          </a:xfrm>
          <a:prstGeom prst="rect">
            <a:avLst/>
          </a:prstGeom>
          <a:noFill/>
          <a:ln/>
        </p:spPr>
        <p:txBody>
          <a:bodyPr wrap="square" rtlCol="0" anchor="ctr"/>
          <a:lstStyle/>
          <a:p>
            <a:pPr marL="0" indent="0">
              <a:buNone/>
            </a:pPr>
            <a:endParaRPr lang="en-US" sz="900" dirty="0"/>
          </a:p>
        </p:txBody>
      </p:sp>
      <p:pic>
        <p:nvPicPr>
          <p:cNvPr id="16" name="Picture 15" descr="3.png"/>
          <p:cNvPicPr>
            <a:picLocks noChangeAspect="1"/>
          </p:cNvPicPr>
          <p:nvPr/>
        </p:nvPicPr>
        <p:blipFill>
          <a:blip r:embed="rId3"/>
          <a:stretch>
            <a:fillRect/>
          </a:stretch>
        </p:blipFill>
        <p:spPr>
          <a:xfrm>
            <a:off x="0" y="0"/>
            <a:ext cx="9144000" cy="5143500"/>
          </a:xfrm>
          <a:prstGeom prst="rect">
            <a:avLst/>
          </a:prstGeom>
        </p:spPr>
      </p:pic>
      <p:sp>
        <p:nvSpPr>
          <p:cNvPr id="9" name="TextBox 8"/>
          <p:cNvSpPr txBox="1"/>
          <p:nvPr/>
        </p:nvSpPr>
        <p:spPr>
          <a:xfrm>
            <a:off x="786322" y="3454866"/>
            <a:ext cx="1676400" cy="738664"/>
          </a:xfrm>
          <a:prstGeom prst="rect">
            <a:avLst/>
          </a:prstGeom>
          <a:noFill/>
        </p:spPr>
        <p:txBody>
          <a:bodyPr wrap="square" rtlCol="0">
            <a:spAutoFit/>
          </a:bodyPr>
          <a:lstStyle/>
          <a:p>
            <a:r>
              <a:rPr lang="en-US" sz="1400" b="1" dirty="0">
                <a:solidFill>
                  <a:srgbClr val="FF0000"/>
                </a:solidFill>
              </a:rPr>
              <a:t>Presented By –</a:t>
            </a:r>
          </a:p>
          <a:p>
            <a:r>
              <a:rPr lang="en-US" sz="1400" dirty="0"/>
              <a:t>Ramarapu Dhanesh</a:t>
            </a:r>
          </a:p>
          <a:p>
            <a:r>
              <a:rPr lang="en-US" sz="1400" dirty="0"/>
              <a:t>Batch : 470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Agenda</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7" name="Text 5"/>
          <p:cNvSpPr/>
          <p:nvPr/>
        </p:nvSpPr>
        <p:spPr>
          <a:xfrm>
            <a:off x="457200" y="914400"/>
            <a:ext cx="384048" cy="38404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0" y="685800"/>
            <a:ext cx="9144000" cy="4457700"/>
          </a:xfrm>
          <a:prstGeom prst="rect">
            <a:avLst/>
          </a:prstGeom>
          <a:noFill/>
          <a:ln/>
        </p:spPr>
        <p:txBody>
          <a:bodyPr wrap="square" rtlCol="0" anchor="ctr"/>
          <a:lstStyle/>
          <a:p>
            <a:endParaRPr lang="en-US" sz="1400" dirty="0"/>
          </a:p>
        </p:txBody>
      </p:sp>
      <p:sp>
        <p:nvSpPr>
          <p:cNvPr id="10" name="Text 8"/>
          <p:cNvSpPr/>
          <p:nvPr/>
        </p:nvSpPr>
        <p:spPr>
          <a:xfrm>
            <a:off x="457200" y="1554480"/>
            <a:ext cx="384048" cy="384048"/>
          </a:xfrm>
          <a:prstGeom prst="rect">
            <a:avLst/>
          </a:prstGeom>
          <a:noFill/>
          <a:ln/>
        </p:spPr>
        <p:txBody>
          <a:bodyPr wrap="square" rtlCol="0" anchor="ctr"/>
          <a:lstStyle/>
          <a:p>
            <a:pPr marL="0" indent="0" algn="ctr">
              <a:buNone/>
            </a:pPr>
            <a:endParaRPr lang="en-US" sz="1400" dirty="0"/>
          </a:p>
        </p:txBody>
      </p:sp>
      <p:sp>
        <p:nvSpPr>
          <p:cNvPr id="11" name="Text 9"/>
          <p:cNvSpPr/>
          <p:nvPr/>
        </p:nvSpPr>
        <p:spPr>
          <a:xfrm>
            <a:off x="1005840" y="1581912"/>
            <a:ext cx="7589520" cy="347472"/>
          </a:xfrm>
          <a:prstGeom prst="rect">
            <a:avLst/>
          </a:prstGeom>
          <a:noFill/>
          <a:ln/>
        </p:spPr>
        <p:txBody>
          <a:bodyPr wrap="square" rtlCol="0" anchor="ctr"/>
          <a:lstStyle/>
          <a:p>
            <a:endParaRPr lang="en-US" sz="1400" dirty="0"/>
          </a:p>
        </p:txBody>
      </p:sp>
      <p:sp>
        <p:nvSpPr>
          <p:cNvPr id="13" name="Text 11"/>
          <p:cNvSpPr/>
          <p:nvPr/>
        </p:nvSpPr>
        <p:spPr>
          <a:xfrm>
            <a:off x="457200" y="2194560"/>
            <a:ext cx="384048" cy="384048"/>
          </a:xfrm>
          <a:prstGeom prst="rect">
            <a:avLst/>
          </a:prstGeom>
          <a:noFill/>
          <a:ln/>
        </p:spPr>
        <p:txBody>
          <a:bodyPr wrap="square" rtlCol="0" anchor="ctr"/>
          <a:lstStyle/>
          <a:p>
            <a:pPr marL="0" indent="0" algn="ctr">
              <a:buNone/>
            </a:pPr>
            <a:endParaRPr lang="en-US" sz="1400" dirty="0"/>
          </a:p>
        </p:txBody>
      </p:sp>
      <p:sp>
        <p:nvSpPr>
          <p:cNvPr id="14" name="Text 12"/>
          <p:cNvSpPr/>
          <p:nvPr/>
        </p:nvSpPr>
        <p:spPr>
          <a:xfrm>
            <a:off x="1005840" y="2221992"/>
            <a:ext cx="7589520" cy="347472"/>
          </a:xfrm>
          <a:prstGeom prst="rect">
            <a:avLst/>
          </a:prstGeom>
          <a:noFill/>
          <a:ln/>
        </p:spPr>
        <p:txBody>
          <a:bodyPr wrap="square" rtlCol="0" anchor="ctr"/>
          <a:lstStyle/>
          <a:p>
            <a:endParaRPr lang="en-US" sz="1400" dirty="0"/>
          </a:p>
        </p:txBody>
      </p:sp>
      <p:sp>
        <p:nvSpPr>
          <p:cNvPr id="16" name="Text 14"/>
          <p:cNvSpPr/>
          <p:nvPr/>
        </p:nvSpPr>
        <p:spPr>
          <a:xfrm>
            <a:off x="457200" y="2834640"/>
            <a:ext cx="384048" cy="384048"/>
          </a:xfrm>
          <a:prstGeom prst="rect">
            <a:avLst/>
          </a:prstGeom>
          <a:noFill/>
          <a:ln/>
        </p:spPr>
        <p:txBody>
          <a:bodyPr wrap="square" rtlCol="0" anchor="ctr"/>
          <a:lstStyle/>
          <a:p>
            <a:pPr marL="0" indent="0" algn="ctr">
              <a:buNone/>
            </a:pPr>
            <a:endParaRPr lang="en-US" sz="1400" dirty="0"/>
          </a:p>
        </p:txBody>
      </p:sp>
      <p:sp>
        <p:nvSpPr>
          <p:cNvPr id="17" name="Text 15"/>
          <p:cNvSpPr/>
          <p:nvPr/>
        </p:nvSpPr>
        <p:spPr>
          <a:xfrm>
            <a:off x="666404" y="2834640"/>
            <a:ext cx="7589520" cy="347472"/>
          </a:xfrm>
          <a:prstGeom prst="rect">
            <a:avLst/>
          </a:prstGeom>
          <a:noFill/>
          <a:ln/>
        </p:spPr>
        <p:txBody>
          <a:bodyPr wrap="square" rtlCol="0" anchor="ctr"/>
          <a:lstStyle/>
          <a:p>
            <a:endParaRPr lang="en-US" sz="1400" dirty="0"/>
          </a:p>
        </p:txBody>
      </p:sp>
      <p:sp>
        <p:nvSpPr>
          <p:cNvPr id="19" name="Text 17"/>
          <p:cNvSpPr/>
          <p:nvPr/>
        </p:nvSpPr>
        <p:spPr>
          <a:xfrm>
            <a:off x="457200" y="3474720"/>
            <a:ext cx="384048" cy="384048"/>
          </a:xfrm>
          <a:prstGeom prst="rect">
            <a:avLst/>
          </a:prstGeom>
          <a:noFill/>
          <a:ln/>
        </p:spPr>
        <p:txBody>
          <a:bodyPr wrap="square" rtlCol="0" anchor="ctr"/>
          <a:lstStyle/>
          <a:p>
            <a:pPr marL="0" indent="0" algn="ctr">
              <a:buNone/>
            </a:pPr>
            <a:endParaRPr lang="en-US" sz="1400" dirty="0"/>
          </a:p>
        </p:txBody>
      </p:sp>
      <p:sp>
        <p:nvSpPr>
          <p:cNvPr id="20" name="Text 18"/>
          <p:cNvSpPr/>
          <p:nvPr/>
        </p:nvSpPr>
        <p:spPr>
          <a:xfrm>
            <a:off x="1005840" y="3502152"/>
            <a:ext cx="7589520" cy="347472"/>
          </a:xfrm>
          <a:prstGeom prst="rect">
            <a:avLst/>
          </a:prstGeom>
          <a:noFill/>
          <a:ln/>
        </p:spPr>
        <p:txBody>
          <a:bodyPr wrap="square" rtlCol="0" anchor="ctr"/>
          <a:lstStyle/>
          <a:p>
            <a:endParaRPr lang="en-US" sz="1400" dirty="0"/>
          </a:p>
        </p:txBody>
      </p:sp>
      <p:sp>
        <p:nvSpPr>
          <p:cNvPr id="22" name="Text 20"/>
          <p:cNvSpPr/>
          <p:nvPr/>
        </p:nvSpPr>
        <p:spPr>
          <a:xfrm>
            <a:off x="457200" y="4114800"/>
            <a:ext cx="384048" cy="384048"/>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3" name="Text 21"/>
          <p:cNvSpPr/>
          <p:nvPr/>
        </p:nvSpPr>
        <p:spPr>
          <a:xfrm>
            <a:off x="1005840" y="4142232"/>
            <a:ext cx="7589520" cy="1001268"/>
          </a:xfrm>
          <a:prstGeom prst="rect">
            <a:avLst/>
          </a:prstGeom>
          <a:noFill/>
          <a:ln/>
        </p:spPr>
        <p:txBody>
          <a:bodyPr wrap="square" rtlCol="0" anchor="ctr"/>
          <a:lstStyle/>
          <a:p>
            <a:endParaRPr lang="en-US" sz="1400" dirty="0"/>
          </a:p>
        </p:txBody>
      </p:sp>
      <p:sp>
        <p:nvSpPr>
          <p:cNvPr id="25" name="Shape 4"/>
          <p:cNvSpPr/>
          <p:nvPr/>
        </p:nvSpPr>
        <p:spPr>
          <a:xfrm>
            <a:off x="666404" y="1143000"/>
            <a:ext cx="7837516" cy="3498272"/>
          </a:xfrm>
          <a:prstGeom prst="rect">
            <a:avLst/>
          </a:prstGeom>
          <a:solidFill>
            <a:srgbClr val="FFF5F5"/>
          </a:solidFill>
          <a:ln w="12700">
            <a:solidFill>
              <a:srgbClr val="FFCCCC"/>
            </a:solidFill>
            <a:prstDash val="solid"/>
          </a:ln>
        </p:spPr>
      </p:sp>
      <p:pic>
        <p:nvPicPr>
          <p:cNvPr id="9" name="Picture 8">
            <a:extLst>
              <a:ext uri="{FF2B5EF4-FFF2-40B4-BE49-F238E27FC236}">
                <a16:creationId xmlns:a16="http://schemas.microsoft.com/office/drawing/2014/main" id="{90F11243-B2B4-3A2C-0DDF-4B9B6035E908}"/>
              </a:ext>
            </a:extLst>
          </p:cNvPr>
          <p:cNvPicPr>
            <a:picLocks noChangeAspect="1"/>
          </p:cNvPicPr>
          <p:nvPr/>
        </p:nvPicPr>
        <p:blipFill>
          <a:blip r:embed="rId3"/>
          <a:stretch>
            <a:fillRect/>
          </a:stretch>
        </p:blipFill>
        <p:spPr>
          <a:xfrm>
            <a:off x="4165600" y="1665646"/>
            <a:ext cx="3614497" cy="2653370"/>
          </a:xfrm>
          <a:prstGeom prst="rect">
            <a:avLst/>
          </a:prstGeom>
        </p:spPr>
      </p:pic>
      <p:pic>
        <p:nvPicPr>
          <p:cNvPr id="15" name="Picture 14">
            <a:extLst>
              <a:ext uri="{FF2B5EF4-FFF2-40B4-BE49-F238E27FC236}">
                <a16:creationId xmlns:a16="http://schemas.microsoft.com/office/drawing/2014/main" id="{4B86FCA2-1312-120A-473B-11381241B89A}"/>
              </a:ext>
            </a:extLst>
          </p:cNvPr>
          <p:cNvPicPr>
            <a:picLocks noChangeAspect="1"/>
          </p:cNvPicPr>
          <p:nvPr/>
        </p:nvPicPr>
        <p:blipFill>
          <a:blip r:embed="rId4"/>
          <a:stretch>
            <a:fillRect/>
          </a:stretch>
        </p:blipFill>
        <p:spPr>
          <a:xfrm>
            <a:off x="888076" y="1365418"/>
            <a:ext cx="2314801" cy="3092282"/>
          </a:xfrm>
          <a:prstGeom prst="rect">
            <a:avLst/>
          </a:prstGeom>
        </p:spPr>
      </p:pic>
      <p:sp>
        <p:nvSpPr>
          <p:cNvPr id="27" name="TextBox 26"/>
          <p:cNvSpPr txBox="1"/>
          <p:nvPr/>
        </p:nvSpPr>
        <p:spPr>
          <a:xfrm>
            <a:off x="1050452" y="1770549"/>
            <a:ext cx="7837516" cy="2523768"/>
          </a:xfrm>
          <a:prstGeom prst="rect">
            <a:avLst/>
          </a:prstGeom>
          <a:noFill/>
        </p:spPr>
        <p:txBody>
          <a:bodyPr wrap="square" rtlCol="0">
            <a:spAutoFit/>
          </a:bodyPr>
          <a:lstStyle/>
          <a:p>
            <a:pPr>
              <a:buFont typeface="Arial" pitchFamily="34" charset="0"/>
              <a:buChar char="•"/>
            </a:pPr>
            <a:r>
              <a:rPr lang="en-US" sz="1600" dirty="0">
                <a:solidFill>
                  <a:srgbClr val="1A1A1A"/>
                </a:solidFill>
              </a:rPr>
              <a:t> </a:t>
            </a:r>
            <a:r>
              <a:rPr lang="en-US" sz="1400" dirty="0">
                <a:solidFill>
                  <a:srgbClr val="1A1A1A"/>
                </a:solidFill>
              </a:rPr>
              <a:t>Business Problem</a:t>
            </a:r>
          </a:p>
          <a:p>
            <a:pPr>
              <a:buFont typeface="Arial" pitchFamily="34" charset="0"/>
              <a:buChar char="•"/>
            </a:pPr>
            <a:r>
              <a:rPr lang="en-US" sz="1400" dirty="0">
                <a:solidFill>
                  <a:srgbClr val="1A1A1A"/>
                </a:solidFill>
              </a:rPr>
              <a:t> Problem Statement</a:t>
            </a:r>
          </a:p>
          <a:p>
            <a:pPr>
              <a:buFont typeface="Arial" pitchFamily="34" charset="0"/>
              <a:buChar char="•"/>
            </a:pPr>
            <a:r>
              <a:rPr lang="en-US" sz="1400" dirty="0">
                <a:solidFill>
                  <a:srgbClr val="1A1A1A"/>
                </a:solidFill>
              </a:rPr>
              <a:t> Objective </a:t>
            </a:r>
          </a:p>
          <a:p>
            <a:pPr>
              <a:buFont typeface="Arial" pitchFamily="34" charset="0"/>
              <a:buChar char="•"/>
            </a:pPr>
            <a:r>
              <a:rPr lang="en-US" sz="1400" dirty="0">
                <a:solidFill>
                  <a:srgbClr val="1A1A1A"/>
                </a:solidFill>
              </a:rPr>
              <a:t> Introduction</a:t>
            </a:r>
          </a:p>
          <a:p>
            <a:pPr>
              <a:buFont typeface="Arial" pitchFamily="34" charset="0"/>
              <a:buChar char="•"/>
            </a:pPr>
            <a:r>
              <a:rPr lang="en-US" sz="1400" dirty="0">
                <a:solidFill>
                  <a:srgbClr val="1A1A1A"/>
                </a:solidFill>
              </a:rPr>
              <a:t> Tables</a:t>
            </a:r>
          </a:p>
          <a:p>
            <a:pPr>
              <a:buFont typeface="Arial" pitchFamily="34" charset="0"/>
              <a:buChar char="•"/>
            </a:pPr>
            <a:r>
              <a:rPr lang="en-US" sz="1400" dirty="0">
                <a:solidFill>
                  <a:srgbClr val="1A1A1A"/>
                </a:solidFill>
              </a:rPr>
              <a:t> ER Diagram</a:t>
            </a:r>
          </a:p>
          <a:p>
            <a:pPr>
              <a:buFont typeface="Arial" pitchFamily="34" charset="0"/>
              <a:buChar char="•"/>
            </a:pPr>
            <a:r>
              <a:rPr lang="en-US" sz="1400" dirty="0">
                <a:solidFill>
                  <a:srgbClr val="1A1A1A"/>
                </a:solidFill>
              </a:rPr>
              <a:t> SQL Queries (Q1 – Q9)</a:t>
            </a:r>
          </a:p>
          <a:p>
            <a:pPr>
              <a:buFont typeface="Arial" pitchFamily="34" charset="0"/>
              <a:buChar char="•"/>
            </a:pPr>
            <a:r>
              <a:rPr lang="en-US" sz="1400" dirty="0">
                <a:solidFill>
                  <a:srgbClr val="1A1A1A"/>
                </a:solidFill>
              </a:rPr>
              <a:t> Conclusion</a:t>
            </a:r>
          </a:p>
          <a:p>
            <a:pPr>
              <a:buFont typeface="Arial" pitchFamily="34" charset="0"/>
              <a:buChar char="•"/>
            </a:pPr>
            <a:r>
              <a:rPr lang="en-US" sz="1400" dirty="0">
                <a:solidFill>
                  <a:srgbClr val="1A1A1A"/>
                </a:solidFill>
              </a:rPr>
              <a:t> Recommendations</a:t>
            </a:r>
          </a:p>
          <a:p>
            <a:pPr>
              <a:buFont typeface="Arial" pitchFamily="34" charset="0"/>
              <a:buChar char="•"/>
            </a:pPr>
            <a:r>
              <a:rPr lang="en-US" sz="1400" dirty="0">
                <a:solidFill>
                  <a:srgbClr val="1A1A1A"/>
                </a:solidFill>
              </a:rPr>
              <a:t> Q &amp; A</a:t>
            </a:r>
          </a:p>
          <a:p>
            <a:endParaRPr lang="en-US" sz="1600" dirty="0">
              <a:solidFill>
                <a:srgbClr val="1A1A1A"/>
              </a:solidFill>
            </a:endParaRPr>
          </a:p>
        </p:txBody>
      </p:sp>
      <p:sp>
        <p:nvSpPr>
          <p:cNvPr id="18" name="TextBox 17">
            <a:extLst>
              <a:ext uri="{FF2B5EF4-FFF2-40B4-BE49-F238E27FC236}">
                <a16:creationId xmlns:a16="http://schemas.microsoft.com/office/drawing/2014/main" id="{C1E17C97-408E-7510-16D7-C1BCC36EE38F}"/>
              </a:ext>
            </a:extLst>
          </p:cNvPr>
          <p:cNvSpPr txBox="1"/>
          <p:nvPr/>
        </p:nvSpPr>
        <p:spPr>
          <a:xfrm>
            <a:off x="5122795" y="2211062"/>
            <a:ext cx="1700106" cy="954107"/>
          </a:xfrm>
          <a:prstGeom prst="rect">
            <a:avLst/>
          </a:prstGeom>
          <a:noFill/>
        </p:spPr>
        <p:txBody>
          <a:bodyPr wrap="square" rtlCol="0">
            <a:spAutoFit/>
          </a:bodyPr>
          <a:lstStyle/>
          <a:p>
            <a:pPr algn="ctr"/>
            <a:r>
              <a:rPr lang="en-IN" sz="2800" dirty="0">
                <a:solidFill>
                  <a:srgbClr val="FFFF00"/>
                </a:solidFill>
                <a:latin typeface="Bodoni MT Black" panose="02070A03080606020203" pitchFamily="18" charset="0"/>
              </a:rPr>
              <a:t>MUSIC STORE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Business Problem</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199" y="914399"/>
            <a:ext cx="8321041" cy="3754875"/>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sp>
        <p:nvSpPr>
          <p:cNvPr id="13" name="TextBox 12"/>
          <p:cNvSpPr txBox="1"/>
          <p:nvPr/>
        </p:nvSpPr>
        <p:spPr>
          <a:xfrm>
            <a:off x="594360" y="1319510"/>
            <a:ext cx="8321039" cy="2893100"/>
          </a:xfrm>
          <a:prstGeom prst="rect">
            <a:avLst/>
          </a:prstGeom>
          <a:noFill/>
        </p:spPr>
        <p:txBody>
          <a:bodyPr wrap="square" rtlCol="0">
            <a:spAutoFit/>
          </a:bodyPr>
          <a:lstStyle/>
          <a:p>
            <a:pPr marL="342900" indent="-342900">
              <a:buFont typeface="+mj-lt"/>
              <a:buAutoNum type="arabicPeriod"/>
            </a:pPr>
            <a:r>
              <a:rPr lang="en-US" sz="1400" dirty="0"/>
              <a:t>Music stores handle vast amounts of data, including information about customers, artists, albums, tracks, and sales transactions.</a:t>
            </a:r>
          </a:p>
          <a:p>
            <a:pPr marL="342900" indent="-342900">
              <a:buFont typeface="+mj-lt"/>
              <a:buAutoNum type="arabicPeriod"/>
            </a:pPr>
            <a:r>
              <a:rPr lang="en-US" sz="1400" dirty="0"/>
              <a:t>When this data is managed manually or through unstructured systems, it often results in operational inefficiencies and data inconsistencies.</a:t>
            </a:r>
          </a:p>
          <a:p>
            <a:pPr marL="342900" indent="-342900">
              <a:buFont typeface="+mj-lt"/>
              <a:buAutoNum type="arabicPeriod"/>
            </a:pPr>
            <a:r>
              <a:rPr lang="en-US" sz="1400" dirty="0"/>
              <a:t>Some of the key challenges faced include:</a:t>
            </a:r>
          </a:p>
          <a:p>
            <a:pPr marL="285750" indent="-285750">
              <a:buFont typeface="Arial" panose="020B0604020202020204" pitchFamily="34" charset="0"/>
              <a:buChar char="•"/>
            </a:pPr>
            <a:r>
              <a:rPr lang="en-US" sz="1400" dirty="0"/>
              <a:t>Difficulty in monitoring customer buying behavior and preferences </a:t>
            </a:r>
          </a:p>
          <a:p>
            <a:pPr marL="285750" indent="-285750">
              <a:buFont typeface="Arial" panose="020B0604020202020204" pitchFamily="34" charset="0"/>
              <a:buChar char="•"/>
            </a:pPr>
            <a:r>
              <a:rPr lang="en-US" sz="1400" dirty="0"/>
              <a:t>Limited visibility into top-performing artists and popular music genres </a:t>
            </a:r>
          </a:p>
          <a:p>
            <a:pPr marL="285750" indent="-285750">
              <a:buFont typeface="Arial" panose="020B0604020202020204" pitchFamily="34" charset="0"/>
              <a:buChar char="•"/>
            </a:pPr>
            <a:r>
              <a:rPr lang="en-US" sz="1400" dirty="0"/>
              <a:t>Ineffective tracking of sales performance and revenue generation </a:t>
            </a:r>
          </a:p>
          <a:p>
            <a:pPr marL="285750" indent="-285750">
              <a:buFont typeface="Arial" panose="020B0604020202020204" pitchFamily="34" charset="0"/>
              <a:buChar char="•"/>
            </a:pPr>
            <a:r>
              <a:rPr lang="en-US" sz="1400" dirty="0"/>
              <a:t>Absence of a centralized system to manage inventory efficiently </a:t>
            </a:r>
          </a:p>
          <a:p>
            <a:pPr marL="285750" indent="-285750">
              <a:buFont typeface="Arial" panose="020B0604020202020204" pitchFamily="34" charset="0"/>
              <a:buChar char="•"/>
            </a:pPr>
            <a:r>
              <a:rPr lang="en-US" sz="1400" dirty="0"/>
              <a:t>Lengthy and inefficient reporting and data analysis processes </a:t>
            </a:r>
          </a:p>
          <a:p>
            <a:r>
              <a:rPr lang="en-US" sz="1400" dirty="0"/>
              <a:t>These issues can hinder business growth, reduce customer satisfaction, and lead to less informed decision-making.</a:t>
            </a:r>
          </a:p>
          <a:p>
            <a:pPr>
              <a:buFont typeface="Arial" pitchFamily="34" charset="0"/>
              <a:buChar char="•"/>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Problem Statement</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199" y="914399"/>
            <a:ext cx="8321041" cy="3754875"/>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sp>
        <p:nvSpPr>
          <p:cNvPr id="13" name="TextBox 12"/>
          <p:cNvSpPr txBox="1"/>
          <p:nvPr/>
        </p:nvSpPr>
        <p:spPr>
          <a:xfrm>
            <a:off x="457201" y="1134844"/>
            <a:ext cx="8321039" cy="3262432"/>
          </a:xfrm>
          <a:prstGeom prst="rect">
            <a:avLst/>
          </a:prstGeom>
          <a:noFill/>
        </p:spPr>
        <p:txBody>
          <a:bodyPr wrap="square" rtlCol="0">
            <a:spAutoFit/>
          </a:bodyPr>
          <a:lstStyle/>
          <a:p>
            <a:pPr marL="342900" indent="-342900">
              <a:buFont typeface="+mj-lt"/>
              <a:buAutoNum type="arabicPeriod"/>
            </a:pPr>
            <a:r>
              <a:rPr lang="en-US" sz="1600" dirty="0"/>
              <a:t>Efficiently managing a music store becomes challenging in the absence of a well-structured database system.</a:t>
            </a:r>
          </a:p>
          <a:p>
            <a:pPr marL="342900" indent="-342900">
              <a:buFont typeface="+mj-lt"/>
              <a:buAutoNum type="arabicPeriod"/>
            </a:pPr>
            <a:r>
              <a:rPr lang="en-US" sz="1600" dirty="0"/>
              <a:t>When data is unorganized, it leads to difficulties in tracking sales, managing customer information, and identifying music trends.</a:t>
            </a:r>
          </a:p>
          <a:p>
            <a:pPr marL="342900" indent="-342900">
              <a:buFont typeface="+mj-lt"/>
              <a:buAutoNum type="arabicPeriod"/>
            </a:pPr>
            <a:r>
              <a:rPr lang="en-US" sz="1600" dirty="0"/>
              <a:t>This project focuses on developing a </a:t>
            </a:r>
            <a:r>
              <a:rPr lang="en-US" sz="1600" b="1" dirty="0"/>
              <a:t>Music Store Management System using SQL</a:t>
            </a:r>
            <a:r>
              <a:rPr lang="en-US" sz="1600" dirty="0"/>
              <a:t>, where:</a:t>
            </a:r>
          </a:p>
          <a:p>
            <a:pPr marL="285750" indent="-285750">
              <a:buFont typeface="Arial" panose="020B0604020202020204" pitchFamily="34" charset="0"/>
              <a:buChar char="•"/>
            </a:pPr>
            <a:r>
              <a:rPr lang="en-US" sz="1600" dirty="0"/>
              <a:t>Data is organized and stored in a structured relational database </a:t>
            </a:r>
          </a:p>
          <a:p>
            <a:pPr marL="285750" indent="-285750">
              <a:buFont typeface="Arial" panose="020B0604020202020204" pitchFamily="34" charset="0"/>
              <a:buChar char="•"/>
            </a:pPr>
            <a:r>
              <a:rPr lang="en-US" sz="1600" dirty="0"/>
              <a:t>Proper relationships are established between tables such as customers, invoices, tracks, and artists </a:t>
            </a:r>
          </a:p>
          <a:p>
            <a:pPr marL="285750" indent="-285750">
              <a:buFont typeface="Arial" panose="020B0604020202020204" pitchFamily="34" charset="0"/>
              <a:buChar char="•"/>
            </a:pPr>
            <a:r>
              <a:rPr lang="en-US" sz="1600" dirty="0"/>
              <a:t>SQL queries are utilized to analyze sales performance, customer behavior, and trending music patterns </a:t>
            </a:r>
          </a:p>
          <a:p>
            <a:r>
              <a:rPr lang="en-US" sz="1600" dirty="0"/>
              <a:t>By implementing this system, businesses can enhance accuracy, streamline operations, and make better data-driven decisions.</a:t>
            </a:r>
          </a:p>
          <a:p>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Objective</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1003579"/>
            <a:ext cx="8229600" cy="3713894"/>
          </a:xfrm>
          <a:prstGeom prst="rect">
            <a:avLst/>
          </a:prstGeom>
          <a:solidFill>
            <a:srgbClr val="FFF5F5"/>
          </a:solidFill>
          <a:ln w="12700">
            <a:solidFill>
              <a:srgbClr val="FFCCCC"/>
            </a:solidFill>
            <a:prstDash val="solid"/>
          </a:ln>
        </p:spPr>
      </p:sp>
      <p:sp>
        <p:nvSpPr>
          <p:cNvPr id="8" name="Text 6"/>
          <p:cNvSpPr/>
          <p:nvPr/>
        </p:nvSpPr>
        <p:spPr>
          <a:xfrm>
            <a:off x="457200" y="914401"/>
            <a:ext cx="8229600" cy="3474720"/>
          </a:xfrm>
          <a:prstGeom prst="rect">
            <a:avLst/>
          </a:prstGeom>
          <a:noFill/>
          <a:ln/>
        </p:spPr>
        <p:txBody>
          <a:bodyPr wrap="square" rtlCol="0" anchor="ctr"/>
          <a:lstStyle/>
          <a:p>
            <a:endParaRPr lang="en-US" sz="1400" dirty="0"/>
          </a:p>
        </p:txBody>
      </p:sp>
      <p:sp>
        <p:nvSpPr>
          <p:cNvPr id="10" name="Text 8"/>
          <p:cNvSpPr/>
          <p:nvPr/>
        </p:nvSpPr>
        <p:spPr>
          <a:xfrm>
            <a:off x="457200" y="914401"/>
            <a:ext cx="8229600" cy="3474720"/>
          </a:xfrm>
          <a:prstGeom prst="rect">
            <a:avLst/>
          </a:prstGeom>
          <a:noFill/>
          <a:ln/>
        </p:spPr>
        <p:txBody>
          <a:bodyPr wrap="square" rtlCol="0" anchor="ctr"/>
          <a:lstStyle/>
          <a:p>
            <a:endParaRPr lang="en-US" sz="1400" dirty="0"/>
          </a:p>
          <a:p>
            <a:pPr>
              <a:buFont typeface="Arial" pitchFamily="34" charset="0"/>
              <a:buChar char="•"/>
            </a:pPr>
            <a:endParaRPr lang="en-US" sz="1400" dirty="0">
              <a:solidFill>
                <a:srgbClr val="1A1A1A"/>
              </a:solidFill>
            </a:endParaRPr>
          </a:p>
          <a:p>
            <a:endParaRPr lang="en-US" sz="1400" dirty="0">
              <a:solidFill>
                <a:srgbClr val="1A1A1A"/>
              </a:solidFill>
            </a:endParaRPr>
          </a:p>
          <a:p>
            <a:endParaRPr lang="en-US" sz="1400" dirty="0">
              <a:solidFill>
                <a:srgbClr val="1A1A1A"/>
              </a:solidFill>
            </a:endParaRPr>
          </a:p>
          <a:p>
            <a:endParaRPr lang="en-US" sz="1400" dirty="0"/>
          </a:p>
          <a:p>
            <a:endParaRPr lang="en-US" sz="1400" dirty="0"/>
          </a:p>
          <a:p>
            <a:endParaRPr lang="en-US" sz="1400" dirty="0">
              <a:solidFill>
                <a:srgbClr val="1A1A1A"/>
              </a:solidFill>
            </a:endParaRPr>
          </a:p>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a:buFont typeface="Arial" pitchFamily="34" charset="0"/>
              <a:buChar char="•"/>
            </a:pPr>
            <a:endParaRPr lang="en-US" sz="1400" dirty="0">
              <a:solidFill>
                <a:srgbClr val="1A1A1A"/>
              </a:solidFill>
            </a:endParaRPr>
          </a:p>
          <a:p>
            <a:endParaRPr lang="en-US" sz="1400" dirty="0">
              <a:solidFill>
                <a:srgbClr val="1A1A1A"/>
              </a:solidFill>
            </a:endParaRPr>
          </a:p>
        </p:txBody>
      </p:sp>
      <p:sp>
        <p:nvSpPr>
          <p:cNvPr id="14" name="Text 12"/>
          <p:cNvSpPr/>
          <p:nvPr/>
        </p:nvSpPr>
        <p:spPr>
          <a:xfrm>
            <a:off x="1051560" y="2955729"/>
            <a:ext cx="7406640" cy="502920"/>
          </a:xfrm>
          <a:prstGeom prst="rect">
            <a:avLst/>
          </a:prstGeom>
          <a:noFill/>
          <a:ln/>
        </p:spPr>
        <p:txBody>
          <a:bodyPr wrap="square" rtlCol="0" anchor="ctr"/>
          <a:lstStyle/>
          <a:p>
            <a:endParaRPr lang="en-US" sz="1400" dirty="0"/>
          </a:p>
        </p:txBody>
      </p:sp>
      <p:sp>
        <p:nvSpPr>
          <p:cNvPr id="16" name="Text 14"/>
          <p:cNvSpPr/>
          <p:nvPr/>
        </p:nvSpPr>
        <p:spPr>
          <a:xfrm>
            <a:off x="1051560" y="3584448"/>
            <a:ext cx="7406640" cy="502920"/>
          </a:xfrm>
          <a:prstGeom prst="rect">
            <a:avLst/>
          </a:prstGeom>
          <a:noFill/>
          <a:ln/>
        </p:spPr>
        <p:txBody>
          <a:bodyPr wrap="square" rtlCol="0" anchor="ctr"/>
          <a:lstStyle/>
          <a:p>
            <a:endParaRPr lang="en-US" sz="1400" dirty="0"/>
          </a:p>
        </p:txBody>
      </p:sp>
      <p:sp>
        <p:nvSpPr>
          <p:cNvPr id="17" name="TextBox 16"/>
          <p:cNvSpPr txBox="1"/>
          <p:nvPr/>
        </p:nvSpPr>
        <p:spPr>
          <a:xfrm>
            <a:off x="457200" y="1003579"/>
            <a:ext cx="8229600" cy="3631763"/>
          </a:xfrm>
          <a:prstGeom prst="rect">
            <a:avLst/>
          </a:prstGeom>
          <a:noFill/>
        </p:spPr>
        <p:txBody>
          <a:bodyPr wrap="square" rtlCol="0">
            <a:spAutoFit/>
          </a:bodyPr>
          <a:lstStyle/>
          <a:p>
            <a:endParaRPr lang="en-US" sz="1600" dirty="0">
              <a:solidFill>
                <a:srgbClr val="1A1A1A"/>
              </a:solidFill>
            </a:endParaRPr>
          </a:p>
          <a:p>
            <a:r>
              <a:rPr lang="en-US" sz="1600" dirty="0"/>
              <a:t> </a:t>
            </a:r>
            <a:r>
              <a:rPr lang="en-US" sz="1400" dirty="0"/>
              <a:t>The main objectives of this project are:</a:t>
            </a:r>
          </a:p>
          <a:p>
            <a:pPr marL="285750" indent="-285750">
              <a:buFont typeface="Arial" panose="020B0604020202020204" pitchFamily="34" charset="0"/>
              <a:buChar char="•"/>
            </a:pPr>
            <a:r>
              <a:rPr lang="en-US" sz="1400" dirty="0"/>
              <a:t>To develop a structured relational database system for managing music store data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organize and maintain data in well-defined tables with proper relationships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utilize SQL queries for efficient data retrieval and analysis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understand customer behavior and analyze purchasing patterns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evaluate sales performance across different dimensions such as city, country, genre, and artist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support better decision-making through meaningful data insights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To minimize manual work and enhance overall operational efficiency </a:t>
            </a:r>
          </a:p>
          <a:p>
            <a:pPr>
              <a:buFont typeface="Arial" pitchFamily="34" charset="0"/>
              <a:buChar char="•"/>
            </a:pPr>
            <a:endParaRPr lang="en-US" sz="1600" dirty="0">
              <a:solidFill>
                <a:srgbClr val="1A1A1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Introduction</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48887" y="1097280"/>
            <a:ext cx="8229600" cy="3539431"/>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endParaRPr lang="en-US" sz="1400" dirty="0"/>
          </a:p>
        </p:txBody>
      </p:sp>
      <p:sp>
        <p:nvSpPr>
          <p:cNvPr id="10" name="Text 8"/>
          <p:cNvSpPr/>
          <p:nvPr/>
        </p:nvSpPr>
        <p:spPr>
          <a:xfrm>
            <a:off x="1051560" y="1719072"/>
            <a:ext cx="7380000" cy="612000"/>
          </a:xfrm>
          <a:prstGeom prst="rect">
            <a:avLst/>
          </a:prstGeom>
          <a:noFill/>
          <a:ln/>
        </p:spPr>
        <p:txBody>
          <a:bodyPr wrap="square" rtlCol="0" anchor="ctr"/>
          <a:lstStyle/>
          <a:p>
            <a:endParaRPr lang="en-US" sz="1400" dirty="0"/>
          </a:p>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endParaRPr lang="en-US" sz="1400" dirty="0"/>
          </a:p>
        </p:txBody>
      </p:sp>
      <p:sp>
        <p:nvSpPr>
          <p:cNvPr id="14" name="Text 12"/>
          <p:cNvSpPr/>
          <p:nvPr/>
        </p:nvSpPr>
        <p:spPr>
          <a:xfrm>
            <a:off x="1051560" y="2962656"/>
            <a:ext cx="7406640" cy="502920"/>
          </a:xfrm>
          <a:prstGeom prst="rect">
            <a:avLst/>
          </a:prstGeom>
          <a:noFill/>
          <a:ln/>
        </p:spPr>
        <p:txBody>
          <a:bodyPr wrap="square" rtlCol="0" anchor="ctr"/>
          <a:lstStyle/>
          <a:p>
            <a:endParaRPr lang="en-US" sz="1400" dirty="0"/>
          </a:p>
        </p:txBody>
      </p:sp>
      <p:sp>
        <p:nvSpPr>
          <p:cNvPr id="16" name="Text 14"/>
          <p:cNvSpPr/>
          <p:nvPr/>
        </p:nvSpPr>
        <p:spPr>
          <a:xfrm>
            <a:off x="1051560" y="3584448"/>
            <a:ext cx="7406640" cy="502920"/>
          </a:xfrm>
          <a:prstGeom prst="rect">
            <a:avLst/>
          </a:prstGeom>
          <a:noFill/>
          <a:ln/>
        </p:spPr>
        <p:txBody>
          <a:bodyPr wrap="square" rtlCol="0" anchor="ctr"/>
          <a:lstStyle/>
          <a:p>
            <a:endParaRPr lang="en-US" sz="1400" dirty="0"/>
          </a:p>
        </p:txBody>
      </p:sp>
      <p:sp>
        <p:nvSpPr>
          <p:cNvPr id="17" name="TextBox 16"/>
          <p:cNvSpPr txBox="1"/>
          <p:nvPr/>
        </p:nvSpPr>
        <p:spPr>
          <a:xfrm>
            <a:off x="553875" y="1195348"/>
            <a:ext cx="8146472" cy="3785652"/>
          </a:xfrm>
          <a:prstGeom prst="rect">
            <a:avLst/>
          </a:prstGeom>
          <a:noFill/>
        </p:spPr>
        <p:txBody>
          <a:bodyPr wrap="square" rtlCol="0">
            <a:spAutoFit/>
          </a:bodyPr>
          <a:lstStyle/>
          <a:p>
            <a:pPr marL="342900" indent="-342900">
              <a:buFont typeface="+mj-lt"/>
              <a:buAutoNum type="arabicPeriod"/>
            </a:pPr>
            <a:r>
              <a:rPr lang="en-US" sz="1400" dirty="0"/>
              <a:t>The </a:t>
            </a:r>
            <a:r>
              <a:rPr lang="en-US" sz="1400" b="1" dirty="0"/>
              <a:t>Music Store Management System</a:t>
            </a:r>
            <a:r>
              <a:rPr lang="en-US" sz="1400" dirty="0"/>
              <a:t> is designed using SQL to efficiently organize and analyze data related to customers, artists, tracks, and sales transactions.</a:t>
            </a:r>
          </a:p>
          <a:p>
            <a:pPr marL="342900" indent="-342900">
              <a:buFont typeface="+mj-lt"/>
              <a:buAutoNum type="arabicPeriod"/>
            </a:pPr>
            <a:endParaRPr lang="en-US" sz="1400" dirty="0"/>
          </a:p>
          <a:p>
            <a:pPr marL="342900" indent="-342900">
              <a:buFont typeface="+mj-lt"/>
              <a:buAutoNum type="arabicPeriod"/>
            </a:pPr>
            <a:r>
              <a:rPr lang="en-US" sz="1400" dirty="0"/>
              <a:t>The system is structured into multiple tables, including:</a:t>
            </a:r>
          </a:p>
          <a:p>
            <a:pPr marL="285750" indent="-285750">
              <a:buFont typeface="Arial" panose="020B0604020202020204" pitchFamily="34" charset="0"/>
              <a:buChar char="•"/>
            </a:pPr>
            <a:r>
              <a:rPr lang="en-US" sz="1400" dirty="0"/>
              <a:t>Customer </a:t>
            </a:r>
          </a:p>
          <a:p>
            <a:pPr marL="285750" indent="-285750">
              <a:buFont typeface="Arial" panose="020B0604020202020204" pitchFamily="34" charset="0"/>
              <a:buChar char="•"/>
            </a:pPr>
            <a:r>
              <a:rPr lang="en-US" sz="1400" dirty="0"/>
              <a:t>Employee </a:t>
            </a:r>
          </a:p>
          <a:p>
            <a:pPr marL="285750" indent="-285750">
              <a:buFont typeface="Arial" panose="020B0604020202020204" pitchFamily="34" charset="0"/>
              <a:buChar char="•"/>
            </a:pPr>
            <a:r>
              <a:rPr lang="en-US" sz="1400" dirty="0"/>
              <a:t>Artist and Album </a:t>
            </a:r>
          </a:p>
          <a:p>
            <a:pPr marL="285750" indent="-285750">
              <a:buFont typeface="Arial" panose="020B0604020202020204" pitchFamily="34" charset="0"/>
              <a:buChar char="•"/>
            </a:pPr>
            <a:r>
              <a:rPr lang="en-US" sz="1400" dirty="0"/>
              <a:t>Track and Genre </a:t>
            </a:r>
          </a:p>
          <a:p>
            <a:pPr marL="285750" indent="-285750">
              <a:buFont typeface="Arial" panose="020B0604020202020204" pitchFamily="34" charset="0"/>
              <a:buChar char="•"/>
            </a:pPr>
            <a:r>
              <a:rPr lang="en-US" sz="1400" dirty="0"/>
              <a:t>Invoice and Playlist </a:t>
            </a:r>
          </a:p>
          <a:p>
            <a:pPr marL="285750" indent="-285750">
              <a:buFont typeface="Arial" panose="020B0604020202020204" pitchFamily="34" charset="0"/>
              <a:buChar char="•"/>
            </a:pPr>
            <a:endParaRPr lang="en-US" sz="1400" dirty="0"/>
          </a:p>
          <a:p>
            <a:pPr marL="342900" indent="-342900">
              <a:buAutoNum type="arabicPeriod" startAt="3"/>
            </a:pPr>
            <a:r>
              <a:rPr lang="en-US" sz="1400" dirty="0"/>
              <a:t>As illustrated in the ER diagram, these tables are interconnected through primary and foreign keys,           ensuring accurate relationships and data integrity across the database.</a:t>
            </a:r>
          </a:p>
          <a:p>
            <a:pPr marL="342900" indent="-342900">
              <a:buAutoNum type="arabicPeriod" startAt="3"/>
            </a:pPr>
            <a:endParaRPr lang="en-US" sz="1050" dirty="0"/>
          </a:p>
          <a:p>
            <a:r>
              <a:rPr lang="en-US" sz="1400" dirty="0"/>
              <a:t>4.  This system enables effective tracking of sales, provides insights into customer preferences, and helps identify popular music trends. As a result, it supports efficient data management and enhances data-driven decision-making.</a:t>
            </a:r>
          </a:p>
          <a:p>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Tables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983669"/>
            <a:ext cx="8229600" cy="3699167"/>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pic>
        <p:nvPicPr>
          <p:cNvPr id="18" name="Picture 17" descr="Genre.png"/>
          <p:cNvPicPr>
            <a:picLocks noChangeAspect="1"/>
          </p:cNvPicPr>
          <p:nvPr/>
        </p:nvPicPr>
        <p:blipFill>
          <a:blip r:embed="rId3"/>
          <a:stretch>
            <a:fillRect/>
          </a:stretch>
        </p:blipFill>
        <p:spPr>
          <a:xfrm>
            <a:off x="1051560" y="1460440"/>
            <a:ext cx="1524078" cy="1168460"/>
          </a:xfrm>
          <a:prstGeom prst="rect">
            <a:avLst/>
          </a:prstGeom>
        </p:spPr>
      </p:pic>
      <p:pic>
        <p:nvPicPr>
          <p:cNvPr id="22" name="Picture 21" descr="Employee.png"/>
          <p:cNvPicPr>
            <a:picLocks noChangeAspect="1"/>
          </p:cNvPicPr>
          <p:nvPr/>
        </p:nvPicPr>
        <p:blipFill>
          <a:blip r:embed="rId4"/>
          <a:stretch>
            <a:fillRect/>
          </a:stretch>
        </p:blipFill>
        <p:spPr>
          <a:xfrm>
            <a:off x="1642127" y="3050381"/>
            <a:ext cx="5531134" cy="1240277"/>
          </a:xfrm>
          <a:prstGeom prst="rect">
            <a:avLst/>
          </a:prstGeom>
        </p:spPr>
      </p:pic>
      <p:sp>
        <p:nvSpPr>
          <p:cNvPr id="23" name="TextBox 22"/>
          <p:cNvSpPr txBox="1"/>
          <p:nvPr/>
        </p:nvSpPr>
        <p:spPr>
          <a:xfrm>
            <a:off x="3364706" y="2628900"/>
            <a:ext cx="1878807" cy="369332"/>
          </a:xfrm>
          <a:prstGeom prst="rect">
            <a:avLst/>
          </a:prstGeom>
          <a:noFill/>
        </p:spPr>
        <p:txBody>
          <a:bodyPr wrap="square" rtlCol="0">
            <a:spAutoFit/>
          </a:bodyPr>
          <a:lstStyle/>
          <a:p>
            <a:r>
              <a:rPr lang="en-US" b="1" dirty="0"/>
              <a:t>Employee Table</a:t>
            </a:r>
          </a:p>
        </p:txBody>
      </p:sp>
      <p:sp>
        <p:nvSpPr>
          <p:cNvPr id="25" name="TextBox 24"/>
          <p:cNvSpPr txBox="1"/>
          <p:nvPr/>
        </p:nvSpPr>
        <p:spPr>
          <a:xfrm>
            <a:off x="1143000" y="1097281"/>
            <a:ext cx="1332000" cy="324000"/>
          </a:xfrm>
          <a:prstGeom prst="rect">
            <a:avLst/>
          </a:prstGeom>
          <a:noFill/>
        </p:spPr>
        <p:txBody>
          <a:bodyPr wrap="square" rtlCol="0">
            <a:spAutoFit/>
          </a:bodyPr>
          <a:lstStyle/>
          <a:p>
            <a:r>
              <a:rPr lang="en-US" b="1" dirty="0"/>
              <a:t>Genre Table</a:t>
            </a:r>
          </a:p>
          <a:p>
            <a:endParaRPr lang="en-US" dirty="0"/>
          </a:p>
        </p:txBody>
      </p:sp>
      <p:sp>
        <p:nvSpPr>
          <p:cNvPr id="26" name="TextBox 25"/>
          <p:cNvSpPr txBox="1"/>
          <p:nvPr/>
        </p:nvSpPr>
        <p:spPr>
          <a:xfrm>
            <a:off x="5929313" y="1097281"/>
            <a:ext cx="1893092" cy="360000"/>
          </a:xfrm>
          <a:prstGeom prst="rect">
            <a:avLst/>
          </a:prstGeom>
          <a:noFill/>
        </p:spPr>
        <p:txBody>
          <a:bodyPr wrap="square" rtlCol="0">
            <a:spAutoFit/>
          </a:bodyPr>
          <a:lstStyle/>
          <a:p>
            <a:r>
              <a:rPr lang="en-US" b="1" dirty="0"/>
              <a:t>Media Type Table</a:t>
            </a:r>
          </a:p>
          <a:p>
            <a:endParaRPr lang="en-US" dirty="0"/>
          </a:p>
        </p:txBody>
      </p:sp>
      <p:pic>
        <p:nvPicPr>
          <p:cNvPr id="27" name="Picture 26" descr="Media Type.png"/>
          <p:cNvPicPr>
            <a:picLocks noChangeAspect="1"/>
          </p:cNvPicPr>
          <p:nvPr/>
        </p:nvPicPr>
        <p:blipFill>
          <a:blip r:embed="rId5"/>
          <a:stretch>
            <a:fillRect/>
          </a:stretch>
        </p:blipFill>
        <p:spPr>
          <a:xfrm>
            <a:off x="5692832" y="1479491"/>
            <a:ext cx="2241665" cy="11494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Tables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914400"/>
            <a:ext cx="8229600" cy="3768436"/>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sp>
        <p:nvSpPr>
          <p:cNvPr id="23" name="TextBox 22"/>
          <p:cNvSpPr txBox="1"/>
          <p:nvPr/>
        </p:nvSpPr>
        <p:spPr>
          <a:xfrm>
            <a:off x="3096492" y="2628900"/>
            <a:ext cx="1676400" cy="369332"/>
          </a:xfrm>
          <a:prstGeom prst="rect">
            <a:avLst/>
          </a:prstGeom>
          <a:noFill/>
        </p:spPr>
        <p:txBody>
          <a:bodyPr wrap="square" rtlCol="0">
            <a:spAutoFit/>
          </a:bodyPr>
          <a:lstStyle/>
          <a:p>
            <a:r>
              <a:rPr lang="en-US" b="1" dirty="0"/>
              <a:t>Customer Table</a:t>
            </a:r>
          </a:p>
        </p:txBody>
      </p:sp>
      <p:sp>
        <p:nvSpPr>
          <p:cNvPr id="25" name="TextBox 24"/>
          <p:cNvSpPr txBox="1"/>
          <p:nvPr/>
        </p:nvSpPr>
        <p:spPr>
          <a:xfrm>
            <a:off x="1142999" y="1097282"/>
            <a:ext cx="1260000" cy="360000"/>
          </a:xfrm>
          <a:prstGeom prst="rect">
            <a:avLst/>
          </a:prstGeom>
          <a:noFill/>
        </p:spPr>
        <p:txBody>
          <a:bodyPr wrap="square" rtlCol="0">
            <a:spAutoFit/>
          </a:bodyPr>
          <a:lstStyle/>
          <a:p>
            <a:r>
              <a:rPr lang="en-US" b="1" dirty="0"/>
              <a:t>Artist Table</a:t>
            </a:r>
          </a:p>
          <a:p>
            <a:endParaRPr lang="en-US" dirty="0"/>
          </a:p>
        </p:txBody>
      </p:sp>
      <p:sp>
        <p:nvSpPr>
          <p:cNvPr id="26" name="TextBox 25"/>
          <p:cNvSpPr txBox="1"/>
          <p:nvPr/>
        </p:nvSpPr>
        <p:spPr>
          <a:xfrm>
            <a:off x="5929313" y="1097281"/>
            <a:ext cx="1368000" cy="396000"/>
          </a:xfrm>
          <a:prstGeom prst="rect">
            <a:avLst/>
          </a:prstGeom>
          <a:noFill/>
        </p:spPr>
        <p:txBody>
          <a:bodyPr wrap="square" rtlCol="0">
            <a:spAutoFit/>
          </a:bodyPr>
          <a:lstStyle/>
          <a:p>
            <a:r>
              <a:rPr lang="en-US" b="1" dirty="0"/>
              <a:t>Album Table</a:t>
            </a:r>
          </a:p>
          <a:p>
            <a:endParaRPr lang="en-US" dirty="0"/>
          </a:p>
        </p:txBody>
      </p:sp>
      <p:pic>
        <p:nvPicPr>
          <p:cNvPr id="19" name="Picture 18" descr="Artist.png"/>
          <p:cNvPicPr>
            <a:picLocks noChangeAspect="1"/>
          </p:cNvPicPr>
          <p:nvPr/>
        </p:nvPicPr>
        <p:blipFill>
          <a:blip r:embed="rId3"/>
          <a:stretch>
            <a:fillRect/>
          </a:stretch>
        </p:blipFill>
        <p:spPr>
          <a:xfrm>
            <a:off x="1051560" y="1479491"/>
            <a:ext cx="1454225" cy="1149409"/>
          </a:xfrm>
          <a:prstGeom prst="rect">
            <a:avLst/>
          </a:prstGeom>
        </p:spPr>
      </p:pic>
      <p:pic>
        <p:nvPicPr>
          <p:cNvPr id="20" name="Picture 19" descr="Album.png"/>
          <p:cNvPicPr>
            <a:picLocks noChangeAspect="1"/>
          </p:cNvPicPr>
          <p:nvPr/>
        </p:nvPicPr>
        <p:blipFill>
          <a:blip r:embed="rId4"/>
          <a:stretch>
            <a:fillRect/>
          </a:stretch>
        </p:blipFill>
        <p:spPr>
          <a:xfrm>
            <a:off x="5135916" y="1479491"/>
            <a:ext cx="3111660" cy="1143059"/>
          </a:xfrm>
          <a:prstGeom prst="rect">
            <a:avLst/>
          </a:prstGeom>
        </p:spPr>
      </p:pic>
      <p:pic>
        <p:nvPicPr>
          <p:cNvPr id="28" name="Picture 27" descr="Customer.png"/>
          <p:cNvPicPr>
            <a:picLocks noChangeAspect="1"/>
          </p:cNvPicPr>
          <p:nvPr/>
        </p:nvPicPr>
        <p:blipFill>
          <a:blip r:embed="rId5"/>
          <a:stretch>
            <a:fillRect/>
          </a:stretch>
        </p:blipFill>
        <p:spPr>
          <a:xfrm>
            <a:off x="907861" y="3000218"/>
            <a:ext cx="7328277" cy="11684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Tables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914399"/>
            <a:ext cx="8229600" cy="3747655"/>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sp>
        <p:nvSpPr>
          <p:cNvPr id="23" name="TextBox 22"/>
          <p:cNvSpPr txBox="1"/>
          <p:nvPr/>
        </p:nvSpPr>
        <p:spPr>
          <a:xfrm>
            <a:off x="3782292" y="2628900"/>
            <a:ext cx="1517072" cy="369332"/>
          </a:xfrm>
          <a:prstGeom prst="rect">
            <a:avLst/>
          </a:prstGeom>
          <a:noFill/>
        </p:spPr>
        <p:txBody>
          <a:bodyPr wrap="square" rtlCol="0">
            <a:spAutoFit/>
          </a:bodyPr>
          <a:lstStyle/>
          <a:p>
            <a:r>
              <a:rPr lang="en-US" b="1" dirty="0"/>
              <a:t>Invoice Table</a:t>
            </a:r>
          </a:p>
        </p:txBody>
      </p:sp>
      <p:sp>
        <p:nvSpPr>
          <p:cNvPr id="25" name="TextBox 24"/>
          <p:cNvSpPr txBox="1"/>
          <p:nvPr/>
        </p:nvSpPr>
        <p:spPr>
          <a:xfrm>
            <a:off x="3782291" y="1097282"/>
            <a:ext cx="1246909" cy="360000"/>
          </a:xfrm>
          <a:prstGeom prst="rect">
            <a:avLst/>
          </a:prstGeom>
          <a:noFill/>
        </p:spPr>
        <p:txBody>
          <a:bodyPr wrap="square" rtlCol="0">
            <a:spAutoFit/>
          </a:bodyPr>
          <a:lstStyle/>
          <a:p>
            <a:r>
              <a:rPr lang="en-US" b="1" dirty="0"/>
              <a:t>Track Table</a:t>
            </a:r>
          </a:p>
          <a:p>
            <a:endParaRPr lang="en-US" dirty="0"/>
          </a:p>
        </p:txBody>
      </p:sp>
      <p:sp>
        <p:nvSpPr>
          <p:cNvPr id="26" name="TextBox 25"/>
          <p:cNvSpPr txBox="1"/>
          <p:nvPr/>
        </p:nvSpPr>
        <p:spPr>
          <a:xfrm>
            <a:off x="5929313" y="1097281"/>
            <a:ext cx="1368000" cy="646331"/>
          </a:xfrm>
          <a:prstGeom prst="rect">
            <a:avLst/>
          </a:prstGeom>
          <a:noFill/>
        </p:spPr>
        <p:txBody>
          <a:bodyPr wrap="square" rtlCol="0">
            <a:spAutoFit/>
          </a:bodyPr>
          <a:lstStyle/>
          <a:p>
            <a:endParaRPr lang="en-US" b="1" dirty="0"/>
          </a:p>
          <a:p>
            <a:endParaRPr lang="en-US" dirty="0"/>
          </a:p>
        </p:txBody>
      </p:sp>
      <p:pic>
        <p:nvPicPr>
          <p:cNvPr id="18" name="Picture 17" descr="Track.png"/>
          <p:cNvPicPr>
            <a:picLocks noChangeAspect="1"/>
          </p:cNvPicPr>
          <p:nvPr/>
        </p:nvPicPr>
        <p:blipFill>
          <a:blip r:embed="rId3"/>
          <a:stretch>
            <a:fillRect/>
          </a:stretch>
        </p:blipFill>
        <p:spPr>
          <a:xfrm>
            <a:off x="685801" y="1457282"/>
            <a:ext cx="7772400" cy="1168460"/>
          </a:xfrm>
          <a:prstGeom prst="rect">
            <a:avLst/>
          </a:prstGeom>
        </p:spPr>
      </p:pic>
      <p:pic>
        <p:nvPicPr>
          <p:cNvPr id="21" name="Picture 20" descr="Invoice.png"/>
          <p:cNvPicPr>
            <a:picLocks noChangeAspect="1"/>
          </p:cNvPicPr>
          <p:nvPr/>
        </p:nvPicPr>
        <p:blipFill>
          <a:blip r:embed="rId4"/>
          <a:stretch>
            <a:fillRect/>
          </a:stretch>
        </p:blipFill>
        <p:spPr>
          <a:xfrm>
            <a:off x="1323109" y="2998232"/>
            <a:ext cx="6463146" cy="11113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Tables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914399"/>
            <a:ext cx="8229600" cy="3830783"/>
          </a:xfrm>
          <a:prstGeom prst="rect">
            <a:avLst/>
          </a:prstGeom>
          <a:solidFill>
            <a:srgbClr val="FFF5F5"/>
          </a:solidFill>
          <a:ln w="12700">
            <a:solidFill>
              <a:srgbClr val="FFCCCC"/>
            </a:solidFill>
            <a:prstDash val="solid"/>
          </a:ln>
        </p:spPr>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sp>
        <p:nvSpPr>
          <p:cNvPr id="23" name="TextBox 22"/>
          <p:cNvSpPr txBox="1"/>
          <p:nvPr/>
        </p:nvSpPr>
        <p:spPr>
          <a:xfrm>
            <a:off x="1051560" y="2628900"/>
            <a:ext cx="1518458" cy="360000"/>
          </a:xfrm>
          <a:prstGeom prst="rect">
            <a:avLst/>
          </a:prstGeom>
          <a:noFill/>
        </p:spPr>
        <p:txBody>
          <a:bodyPr wrap="square" rtlCol="0">
            <a:spAutoFit/>
          </a:bodyPr>
          <a:lstStyle/>
          <a:p>
            <a:r>
              <a:rPr lang="en-US" b="1" dirty="0"/>
              <a:t>Playlist Table</a:t>
            </a:r>
          </a:p>
        </p:txBody>
      </p:sp>
      <p:sp>
        <p:nvSpPr>
          <p:cNvPr id="25" name="TextBox 24"/>
          <p:cNvSpPr txBox="1"/>
          <p:nvPr/>
        </p:nvSpPr>
        <p:spPr>
          <a:xfrm>
            <a:off x="3491345" y="1097282"/>
            <a:ext cx="2168238" cy="360000"/>
          </a:xfrm>
          <a:prstGeom prst="rect">
            <a:avLst/>
          </a:prstGeom>
          <a:noFill/>
        </p:spPr>
        <p:txBody>
          <a:bodyPr wrap="square" rtlCol="0">
            <a:spAutoFit/>
          </a:bodyPr>
          <a:lstStyle/>
          <a:p>
            <a:r>
              <a:rPr lang="en-US" b="1" dirty="0"/>
              <a:t>Invoice Line Table</a:t>
            </a:r>
          </a:p>
          <a:p>
            <a:endParaRPr lang="en-US" dirty="0"/>
          </a:p>
        </p:txBody>
      </p:sp>
      <p:sp>
        <p:nvSpPr>
          <p:cNvPr id="26" name="TextBox 25"/>
          <p:cNvSpPr txBox="1"/>
          <p:nvPr/>
        </p:nvSpPr>
        <p:spPr>
          <a:xfrm>
            <a:off x="5929313" y="1097281"/>
            <a:ext cx="1368000" cy="646331"/>
          </a:xfrm>
          <a:prstGeom prst="rect">
            <a:avLst/>
          </a:prstGeom>
          <a:noFill/>
        </p:spPr>
        <p:txBody>
          <a:bodyPr wrap="square" rtlCol="0">
            <a:spAutoFit/>
          </a:bodyPr>
          <a:lstStyle/>
          <a:p>
            <a:endParaRPr lang="en-US" b="1" dirty="0"/>
          </a:p>
          <a:p>
            <a:endParaRPr lang="en-US" dirty="0"/>
          </a:p>
        </p:txBody>
      </p:sp>
      <p:pic>
        <p:nvPicPr>
          <p:cNvPr id="17" name="Picture 16" descr="Invoice Line.png"/>
          <p:cNvPicPr>
            <a:picLocks noChangeAspect="1"/>
          </p:cNvPicPr>
          <p:nvPr/>
        </p:nvPicPr>
        <p:blipFill>
          <a:blip r:embed="rId3"/>
          <a:stretch>
            <a:fillRect/>
          </a:stretch>
        </p:blipFill>
        <p:spPr>
          <a:xfrm>
            <a:off x="2660073" y="1457282"/>
            <a:ext cx="3394363" cy="1149409"/>
          </a:xfrm>
          <a:prstGeom prst="rect">
            <a:avLst/>
          </a:prstGeom>
        </p:spPr>
      </p:pic>
      <p:sp>
        <p:nvSpPr>
          <p:cNvPr id="19" name="TextBox 18"/>
          <p:cNvSpPr txBox="1"/>
          <p:nvPr/>
        </p:nvSpPr>
        <p:spPr>
          <a:xfrm>
            <a:off x="6137565" y="2628899"/>
            <a:ext cx="2029690" cy="360000"/>
          </a:xfrm>
          <a:prstGeom prst="rect">
            <a:avLst/>
          </a:prstGeom>
          <a:noFill/>
        </p:spPr>
        <p:txBody>
          <a:bodyPr wrap="square" rtlCol="0">
            <a:spAutoFit/>
          </a:bodyPr>
          <a:lstStyle/>
          <a:p>
            <a:r>
              <a:rPr lang="en-US" b="1" dirty="0"/>
              <a:t>Playlist Track Table</a:t>
            </a:r>
          </a:p>
        </p:txBody>
      </p:sp>
      <p:pic>
        <p:nvPicPr>
          <p:cNvPr id="20" name="Picture 19" descr="Playlist.png"/>
          <p:cNvPicPr>
            <a:picLocks noChangeAspect="1"/>
          </p:cNvPicPr>
          <p:nvPr/>
        </p:nvPicPr>
        <p:blipFill>
          <a:blip r:embed="rId4"/>
          <a:stretch>
            <a:fillRect/>
          </a:stretch>
        </p:blipFill>
        <p:spPr>
          <a:xfrm>
            <a:off x="1051560" y="3009743"/>
            <a:ext cx="1409772" cy="1149409"/>
          </a:xfrm>
          <a:prstGeom prst="rect">
            <a:avLst/>
          </a:prstGeom>
        </p:spPr>
      </p:pic>
      <p:pic>
        <p:nvPicPr>
          <p:cNvPr id="22" name="Picture 21" descr="Playlist Track.png"/>
          <p:cNvPicPr>
            <a:picLocks noChangeAspect="1"/>
          </p:cNvPicPr>
          <p:nvPr/>
        </p:nvPicPr>
        <p:blipFill>
          <a:blip r:embed="rId5"/>
          <a:stretch>
            <a:fillRect/>
          </a:stretch>
        </p:blipFill>
        <p:spPr>
          <a:xfrm>
            <a:off x="6520266" y="3019269"/>
            <a:ext cx="1104957" cy="11303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ER Diagram</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8" name="Text 6"/>
          <p:cNvSpPr/>
          <p:nvPr/>
        </p:nvSpPr>
        <p:spPr>
          <a:xfrm>
            <a:off x="1051560" y="1097280"/>
            <a:ext cx="7406640" cy="502920"/>
          </a:xfrm>
          <a:prstGeom prst="rect">
            <a:avLst/>
          </a:prstGeom>
          <a:noFill/>
          <a:ln/>
        </p:spPr>
        <p:txBody>
          <a:bodyPr wrap="square" rtlCol="0" anchor="ctr"/>
          <a:lstStyle/>
          <a:p>
            <a:pPr marL="0" indent="0">
              <a:buNone/>
            </a:pPr>
            <a:endParaRPr lang="en-US" sz="1300" dirty="0"/>
          </a:p>
        </p:txBody>
      </p:sp>
      <p:sp>
        <p:nvSpPr>
          <p:cNvPr id="10" name="Text 8"/>
          <p:cNvSpPr/>
          <p:nvPr/>
        </p:nvSpPr>
        <p:spPr>
          <a:xfrm>
            <a:off x="1051560" y="1719072"/>
            <a:ext cx="7406640" cy="502920"/>
          </a:xfrm>
          <a:prstGeom prst="rect">
            <a:avLst/>
          </a:prstGeom>
          <a:noFill/>
          <a:ln/>
        </p:spPr>
        <p:txBody>
          <a:bodyPr wrap="square" rtlCol="0" anchor="ctr"/>
          <a:lstStyle/>
          <a:p>
            <a:pPr marL="0" indent="0">
              <a:buNone/>
            </a:pPr>
            <a:endParaRPr lang="en-US" sz="1300" dirty="0"/>
          </a:p>
        </p:txBody>
      </p:sp>
      <p:sp>
        <p:nvSpPr>
          <p:cNvPr id="12" name="Text 10"/>
          <p:cNvSpPr/>
          <p:nvPr/>
        </p:nvSpPr>
        <p:spPr>
          <a:xfrm>
            <a:off x="1051560" y="2340864"/>
            <a:ext cx="7406640" cy="502920"/>
          </a:xfrm>
          <a:prstGeom prst="rect">
            <a:avLst/>
          </a:prstGeom>
          <a:noFill/>
          <a:ln/>
        </p:spPr>
        <p:txBody>
          <a:bodyPr wrap="square" rtlCol="0" anchor="ctr"/>
          <a:lstStyle/>
          <a:p>
            <a:pPr marL="0" indent="0">
              <a:buNone/>
            </a:pPr>
            <a:endParaRPr lang="en-US" sz="1300" dirty="0"/>
          </a:p>
        </p:txBody>
      </p:sp>
      <p:sp>
        <p:nvSpPr>
          <p:cNvPr id="14" name="Text 12"/>
          <p:cNvSpPr/>
          <p:nvPr/>
        </p:nvSpPr>
        <p:spPr>
          <a:xfrm>
            <a:off x="1051560" y="2962656"/>
            <a:ext cx="7406640" cy="502920"/>
          </a:xfrm>
          <a:prstGeom prst="rect">
            <a:avLst/>
          </a:prstGeom>
          <a:noFill/>
          <a:ln/>
        </p:spPr>
        <p:txBody>
          <a:bodyPr wrap="square" rtlCol="0" anchor="ctr"/>
          <a:lstStyle/>
          <a:p>
            <a:pPr marL="0" indent="0">
              <a:buNone/>
            </a:pPr>
            <a:endParaRPr lang="en-US" sz="1300" dirty="0"/>
          </a:p>
        </p:txBody>
      </p:sp>
      <p:sp>
        <p:nvSpPr>
          <p:cNvPr id="16" name="Text 14"/>
          <p:cNvSpPr/>
          <p:nvPr/>
        </p:nvSpPr>
        <p:spPr>
          <a:xfrm>
            <a:off x="1051560" y="3584448"/>
            <a:ext cx="7406640" cy="502920"/>
          </a:xfrm>
          <a:prstGeom prst="rect">
            <a:avLst/>
          </a:prstGeom>
          <a:noFill/>
          <a:ln/>
        </p:spPr>
        <p:txBody>
          <a:bodyPr wrap="square" rtlCol="0" anchor="ctr"/>
          <a:lstStyle/>
          <a:p>
            <a:pPr marL="0" indent="0">
              <a:buNone/>
            </a:pPr>
            <a:endParaRPr lang="en-US" sz="1300" dirty="0"/>
          </a:p>
        </p:txBody>
      </p:sp>
      <p:pic>
        <p:nvPicPr>
          <p:cNvPr id="13" name="Picture 12" descr="ER Diagram Picture.png"/>
          <p:cNvPicPr>
            <a:picLocks noChangeAspect="1"/>
          </p:cNvPicPr>
          <p:nvPr/>
        </p:nvPicPr>
        <p:blipFill>
          <a:blip r:embed="rId3"/>
          <a:stretch>
            <a:fillRect/>
          </a:stretch>
        </p:blipFill>
        <p:spPr>
          <a:xfrm>
            <a:off x="1051560" y="820610"/>
            <a:ext cx="7108767" cy="41600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Q1: Senior Most Employee</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pPr marL="0" indent="0">
              <a:buNone/>
            </a:pPr>
            <a:r>
              <a:rPr lang="en-US" sz="1100" i="1" dirty="0">
                <a:solidFill>
                  <a:srgbClr val="1A1A1A"/>
                </a:solidFill>
              </a:rPr>
              <a:t>1.  Who is the senior most employee based on job title?</a:t>
            </a:r>
            <a:endParaRPr lang="en-US" sz="1100" dirty="0"/>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8" name="Picture 17" descr="q-1 output.png"/>
          <p:cNvPicPr>
            <a:picLocks noChangeAspect="1"/>
          </p:cNvPicPr>
          <p:nvPr/>
        </p:nvPicPr>
        <p:blipFill>
          <a:blip r:embed="rId3"/>
          <a:stretch>
            <a:fillRect/>
          </a:stretch>
        </p:blipFill>
        <p:spPr>
          <a:xfrm>
            <a:off x="530352" y="4038150"/>
            <a:ext cx="3378374" cy="625290"/>
          </a:xfrm>
          <a:prstGeom prst="rect">
            <a:avLst/>
          </a:prstGeom>
        </p:spPr>
      </p:pic>
      <p:pic>
        <p:nvPicPr>
          <p:cNvPr id="19" name="Picture 18" descr="q-1.png"/>
          <p:cNvPicPr>
            <a:picLocks noChangeAspect="1"/>
          </p:cNvPicPr>
          <p:nvPr/>
        </p:nvPicPr>
        <p:blipFill>
          <a:blip r:embed="rId4"/>
          <a:stretch>
            <a:fillRect/>
          </a:stretch>
        </p:blipFill>
        <p:spPr>
          <a:xfrm>
            <a:off x="530352" y="1922734"/>
            <a:ext cx="2143575" cy="17417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Q2: Countries with Most Invoices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pPr marL="0" indent="0">
              <a:buNone/>
            </a:pPr>
            <a:r>
              <a:rPr lang="en-US" sz="1100" i="1" dirty="0">
                <a:solidFill>
                  <a:srgbClr val="1A1A1A"/>
                </a:solidFill>
              </a:rPr>
              <a:t>2. Which countries have the most Invoices?</a:t>
            </a:r>
            <a:endParaRPr lang="en-US" sz="1100" dirty="0"/>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2.png"/>
          <p:cNvPicPr>
            <a:picLocks noChangeAspect="1"/>
          </p:cNvPicPr>
          <p:nvPr/>
        </p:nvPicPr>
        <p:blipFill>
          <a:blip r:embed="rId3"/>
          <a:stretch>
            <a:fillRect/>
          </a:stretch>
        </p:blipFill>
        <p:spPr>
          <a:xfrm>
            <a:off x="530352" y="2043546"/>
            <a:ext cx="3570593" cy="1143596"/>
          </a:xfrm>
          <a:prstGeom prst="rect">
            <a:avLst/>
          </a:prstGeom>
        </p:spPr>
      </p:pic>
      <p:pic>
        <p:nvPicPr>
          <p:cNvPr id="16" name="Picture 15" descr="q-2 output.png"/>
          <p:cNvPicPr>
            <a:picLocks noChangeAspect="1"/>
          </p:cNvPicPr>
          <p:nvPr/>
        </p:nvPicPr>
        <p:blipFill>
          <a:blip r:embed="rId4"/>
          <a:stretch>
            <a:fillRect/>
          </a:stretch>
        </p:blipFill>
        <p:spPr>
          <a:xfrm>
            <a:off x="658368" y="3553691"/>
            <a:ext cx="2105614" cy="11984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Q3: Best Customer</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i="1" dirty="0">
                <a:solidFill>
                  <a:srgbClr val="1A1A1A"/>
                </a:solidFill>
              </a:rPr>
              <a:t>3. Who is the best customer? The customer who has spent the most money will be declared the best customer. Write a query that returns the person who has spent the most money. </a:t>
            </a:r>
            <a:endParaRPr lang="en-US" sz="1100" dirty="0"/>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5.png"/>
          <p:cNvPicPr>
            <a:picLocks noChangeAspect="1"/>
          </p:cNvPicPr>
          <p:nvPr/>
        </p:nvPicPr>
        <p:blipFill>
          <a:blip r:embed="rId3"/>
          <a:stretch>
            <a:fillRect/>
          </a:stretch>
        </p:blipFill>
        <p:spPr>
          <a:xfrm>
            <a:off x="530352" y="2144405"/>
            <a:ext cx="5188217" cy="1499339"/>
          </a:xfrm>
          <a:prstGeom prst="rect">
            <a:avLst/>
          </a:prstGeom>
        </p:spPr>
      </p:pic>
      <p:pic>
        <p:nvPicPr>
          <p:cNvPr id="16" name="Picture 15" descr="q-5 output.png"/>
          <p:cNvPicPr>
            <a:picLocks noChangeAspect="1"/>
          </p:cNvPicPr>
          <p:nvPr/>
        </p:nvPicPr>
        <p:blipFill>
          <a:blip r:embed="rId4"/>
          <a:stretch>
            <a:fillRect/>
          </a:stretch>
        </p:blipFill>
        <p:spPr>
          <a:xfrm>
            <a:off x="658367" y="4003965"/>
            <a:ext cx="3733523" cy="548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Q4: Rock Music Listeners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54864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dirty="0"/>
              <a:t>4. Write a query to return the email, first name, last name, &amp; Genre of all Rock Music listeners. Return your list ordered alphabetically by email starting with A </a:t>
            </a:r>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6.png"/>
          <p:cNvPicPr>
            <a:picLocks noChangeAspect="1"/>
          </p:cNvPicPr>
          <p:nvPr/>
        </p:nvPicPr>
        <p:blipFill>
          <a:blip r:embed="rId3"/>
          <a:stretch>
            <a:fillRect/>
          </a:stretch>
        </p:blipFill>
        <p:spPr>
          <a:xfrm>
            <a:off x="548639" y="2140528"/>
            <a:ext cx="4355869" cy="1974272"/>
          </a:xfrm>
          <a:prstGeom prst="rect">
            <a:avLst/>
          </a:prstGeom>
        </p:spPr>
      </p:pic>
      <p:pic>
        <p:nvPicPr>
          <p:cNvPr id="17" name="Picture 16" descr="q-6 output.png"/>
          <p:cNvPicPr>
            <a:picLocks noChangeAspect="1"/>
          </p:cNvPicPr>
          <p:nvPr/>
        </p:nvPicPr>
        <p:blipFill>
          <a:blip r:embed="rId4"/>
          <a:stretch>
            <a:fillRect/>
          </a:stretch>
        </p:blipFill>
        <p:spPr>
          <a:xfrm>
            <a:off x="5119255" y="1811898"/>
            <a:ext cx="3402953" cy="26121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Q5: Top 10 Rock Artists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dirty="0"/>
              <a:t>5.  Let's invite the artists who have written the most rock music in our dataset. Write a query that returns the Artist name and total track count of the top 10 rock bands.</a:t>
            </a:r>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7.png"/>
          <p:cNvPicPr>
            <a:picLocks noChangeAspect="1"/>
          </p:cNvPicPr>
          <p:nvPr/>
        </p:nvPicPr>
        <p:blipFill>
          <a:blip r:embed="rId3"/>
          <a:stretch>
            <a:fillRect/>
          </a:stretch>
        </p:blipFill>
        <p:spPr>
          <a:xfrm>
            <a:off x="530352" y="2119745"/>
            <a:ext cx="4400776" cy="2230582"/>
          </a:xfrm>
          <a:prstGeom prst="rect">
            <a:avLst/>
          </a:prstGeom>
        </p:spPr>
      </p:pic>
      <p:pic>
        <p:nvPicPr>
          <p:cNvPr id="16" name="Picture 15" descr="q-7 output.png"/>
          <p:cNvPicPr>
            <a:picLocks noChangeAspect="1"/>
          </p:cNvPicPr>
          <p:nvPr/>
        </p:nvPicPr>
        <p:blipFill>
          <a:blip r:embed="rId4"/>
          <a:stretch>
            <a:fillRect/>
          </a:stretch>
        </p:blipFill>
        <p:spPr>
          <a:xfrm>
            <a:off x="5532927" y="2112818"/>
            <a:ext cx="2710528" cy="21266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Q6: Tracks Longer Than Average</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i="1" dirty="0">
                <a:solidFill>
                  <a:srgbClr val="1A1A1A"/>
                </a:solidFill>
              </a:rPr>
              <a:t>6. Return all the track names that have a song length longer than the average song length. Return the Name and Milliseconds for each track. Order by the song length, with the longest songs listed first.</a:t>
            </a:r>
            <a:endParaRPr lang="en-US" sz="1100" dirty="0"/>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8.png"/>
          <p:cNvPicPr>
            <a:picLocks noChangeAspect="1"/>
          </p:cNvPicPr>
          <p:nvPr/>
        </p:nvPicPr>
        <p:blipFill>
          <a:blip r:embed="rId3"/>
          <a:stretch>
            <a:fillRect/>
          </a:stretch>
        </p:blipFill>
        <p:spPr>
          <a:xfrm>
            <a:off x="594360" y="2571749"/>
            <a:ext cx="4275513" cy="975015"/>
          </a:xfrm>
          <a:prstGeom prst="rect">
            <a:avLst/>
          </a:prstGeom>
        </p:spPr>
      </p:pic>
      <p:pic>
        <p:nvPicPr>
          <p:cNvPr id="16" name="Picture 15" descr="q-8 output.png"/>
          <p:cNvPicPr>
            <a:picLocks noChangeAspect="1"/>
          </p:cNvPicPr>
          <p:nvPr/>
        </p:nvPicPr>
        <p:blipFill>
          <a:blip r:embed="rId4"/>
          <a:stretch>
            <a:fillRect/>
          </a:stretch>
        </p:blipFill>
        <p:spPr>
          <a:xfrm>
            <a:off x="5569763" y="1784230"/>
            <a:ext cx="2348110" cy="24621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Q7: Customer Spend per Artist</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530352"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dirty="0"/>
              <a:t>7.  Find how much amount is spent by each customer on artists? Write a query to return customer name, artist name and total spent. </a:t>
            </a:r>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9.png"/>
          <p:cNvPicPr>
            <a:picLocks noChangeAspect="1"/>
          </p:cNvPicPr>
          <p:nvPr/>
        </p:nvPicPr>
        <p:blipFill>
          <a:blip r:embed="rId3"/>
          <a:stretch>
            <a:fillRect/>
          </a:stretch>
        </p:blipFill>
        <p:spPr>
          <a:xfrm>
            <a:off x="530351" y="1901952"/>
            <a:ext cx="4187121" cy="2670048"/>
          </a:xfrm>
          <a:prstGeom prst="rect">
            <a:avLst/>
          </a:prstGeom>
        </p:spPr>
      </p:pic>
      <p:pic>
        <p:nvPicPr>
          <p:cNvPr id="16" name="Picture 15" descr="q-9 output.png"/>
          <p:cNvPicPr>
            <a:picLocks noChangeAspect="1"/>
          </p:cNvPicPr>
          <p:nvPr/>
        </p:nvPicPr>
        <p:blipFill>
          <a:blip r:embed="rId4"/>
          <a:stretch>
            <a:fillRect/>
          </a:stretch>
        </p:blipFill>
        <p:spPr>
          <a:xfrm>
            <a:off x="4975674" y="1992006"/>
            <a:ext cx="3619686" cy="23051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Q8: Most Popular Genre per Country</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i="1" dirty="0">
                <a:solidFill>
                  <a:srgbClr val="1A1A1A"/>
                </a:solidFill>
              </a:rPr>
              <a:t>8.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endParaRPr lang="en-US" sz="1100" dirty="0"/>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10.png"/>
          <p:cNvPicPr>
            <a:picLocks noChangeAspect="1"/>
          </p:cNvPicPr>
          <p:nvPr/>
        </p:nvPicPr>
        <p:blipFill>
          <a:blip r:embed="rId3"/>
          <a:stretch>
            <a:fillRect/>
          </a:stretch>
        </p:blipFill>
        <p:spPr>
          <a:xfrm>
            <a:off x="594360" y="1673352"/>
            <a:ext cx="3810196" cy="3056036"/>
          </a:xfrm>
          <a:prstGeom prst="rect">
            <a:avLst/>
          </a:prstGeom>
        </p:spPr>
      </p:pic>
      <p:pic>
        <p:nvPicPr>
          <p:cNvPr id="16" name="Picture 15" descr="q-10 output.png"/>
          <p:cNvPicPr>
            <a:picLocks noChangeAspect="1"/>
          </p:cNvPicPr>
          <p:nvPr/>
        </p:nvPicPr>
        <p:blipFill>
          <a:blip r:embed="rId4"/>
          <a:stretch>
            <a:fillRect/>
          </a:stretch>
        </p:blipFill>
        <p:spPr>
          <a:xfrm>
            <a:off x="5187887" y="1885604"/>
            <a:ext cx="2425825" cy="23115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Q9: Top Customer per Country</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777240"/>
            <a:ext cx="8229600" cy="475488"/>
          </a:xfrm>
          <a:prstGeom prst="rect">
            <a:avLst/>
          </a:prstGeom>
          <a:solidFill>
            <a:srgbClr val="FFF0F0"/>
          </a:solidFill>
          <a:ln w="12700">
            <a:solidFill>
              <a:srgbClr val="FFCCCC"/>
            </a:solidFill>
            <a:prstDash val="solid"/>
          </a:ln>
        </p:spPr>
      </p:sp>
      <p:sp>
        <p:nvSpPr>
          <p:cNvPr id="7" name="Shape 5"/>
          <p:cNvSpPr/>
          <p:nvPr/>
        </p:nvSpPr>
        <p:spPr>
          <a:xfrm>
            <a:off x="457200" y="777240"/>
            <a:ext cx="73152" cy="475488"/>
          </a:xfrm>
          <a:prstGeom prst="rect">
            <a:avLst/>
          </a:prstGeom>
          <a:solidFill>
            <a:srgbClr val="CC0000"/>
          </a:solidFill>
          <a:ln w="12700">
            <a:solidFill>
              <a:srgbClr val="CC0000"/>
            </a:solidFill>
            <a:prstDash val="solid"/>
          </a:ln>
        </p:spPr>
      </p:sp>
      <p:sp>
        <p:nvSpPr>
          <p:cNvPr id="8" name="Text 6"/>
          <p:cNvSpPr/>
          <p:nvPr/>
        </p:nvSpPr>
        <p:spPr>
          <a:xfrm>
            <a:off x="658368" y="777240"/>
            <a:ext cx="7863840" cy="475488"/>
          </a:xfrm>
          <a:prstGeom prst="rect">
            <a:avLst/>
          </a:prstGeom>
          <a:noFill/>
          <a:ln/>
        </p:spPr>
        <p:txBody>
          <a:bodyPr wrap="square" rtlCol="0" anchor="ctr"/>
          <a:lstStyle/>
          <a:p>
            <a:r>
              <a:rPr lang="en-US" sz="1100" dirty="0"/>
              <a:t>9.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p:txBody>
      </p:sp>
      <p:sp>
        <p:nvSpPr>
          <p:cNvPr id="10" name="Text 8"/>
          <p:cNvSpPr/>
          <p:nvPr/>
        </p:nvSpPr>
        <p:spPr>
          <a:xfrm>
            <a:off x="594360" y="1417320"/>
            <a:ext cx="1828800" cy="256032"/>
          </a:xfrm>
          <a:prstGeom prst="rect">
            <a:avLst/>
          </a:prstGeom>
          <a:noFill/>
          <a:ln/>
        </p:spPr>
        <p:txBody>
          <a:bodyPr wrap="square" rtlCol="0" anchor="ctr"/>
          <a:lstStyle/>
          <a:p>
            <a:pPr marL="0" indent="0">
              <a:buNone/>
            </a:pPr>
            <a:r>
              <a:rPr lang="en-US" sz="900" b="1" dirty="0">
                <a:solidFill>
                  <a:srgbClr val="888888"/>
                </a:solidFill>
              </a:rPr>
              <a:t>SQL Query</a:t>
            </a:r>
            <a:endParaRPr lang="en-US" sz="900" dirty="0"/>
          </a:p>
        </p:txBody>
      </p:sp>
      <p:sp>
        <p:nvSpPr>
          <p:cNvPr id="11" name="Text 9"/>
          <p:cNvSpPr/>
          <p:nvPr/>
        </p:nvSpPr>
        <p:spPr>
          <a:xfrm>
            <a:off x="594360" y="1691640"/>
            <a:ext cx="7955280" cy="2194560"/>
          </a:xfrm>
          <a:prstGeom prst="rect">
            <a:avLst/>
          </a:prstGeom>
          <a:noFill/>
          <a:ln/>
        </p:spPr>
        <p:txBody>
          <a:bodyPr wrap="square" rtlCol="0" anchor="t"/>
          <a:lstStyle/>
          <a:p>
            <a:pPr marL="0" indent="0">
              <a:buNone/>
            </a:pPr>
            <a:endParaRPr lang="en-US" sz="950" dirty="0"/>
          </a:p>
        </p:txBody>
      </p:sp>
      <p:sp>
        <p:nvSpPr>
          <p:cNvPr id="13" name="Text 11"/>
          <p:cNvSpPr/>
          <p:nvPr/>
        </p:nvSpPr>
        <p:spPr>
          <a:xfrm>
            <a:off x="640080" y="4114800"/>
            <a:ext cx="914400" cy="548640"/>
          </a:xfrm>
          <a:prstGeom prst="rect">
            <a:avLst/>
          </a:prstGeom>
          <a:noFill/>
          <a:ln/>
        </p:spPr>
        <p:txBody>
          <a:bodyPr wrap="square" rtlCol="0" anchor="ctr"/>
          <a:lstStyle/>
          <a:p>
            <a:pPr marL="0" indent="0">
              <a:buNone/>
            </a:pPr>
            <a:r>
              <a:rPr lang="en-US" sz="1000" b="1" dirty="0">
                <a:solidFill>
                  <a:srgbClr val="CC0000"/>
                </a:solidFill>
              </a:rPr>
              <a:t> </a:t>
            </a:r>
            <a:endParaRPr lang="en-US" sz="1000" dirty="0"/>
          </a:p>
        </p:txBody>
      </p:sp>
      <p:sp>
        <p:nvSpPr>
          <p:cNvPr id="14" name="Text 12"/>
          <p:cNvSpPr/>
          <p:nvPr/>
        </p:nvSpPr>
        <p:spPr>
          <a:xfrm>
            <a:off x="1417320" y="4114800"/>
            <a:ext cx="7132320" cy="548640"/>
          </a:xfrm>
          <a:prstGeom prst="rect">
            <a:avLst/>
          </a:prstGeom>
          <a:noFill/>
          <a:ln/>
        </p:spPr>
        <p:txBody>
          <a:bodyPr wrap="square" rtlCol="0" anchor="ctr"/>
          <a:lstStyle/>
          <a:p>
            <a:pPr marL="0" indent="0">
              <a:buNone/>
            </a:pPr>
            <a:endParaRPr lang="en-US" sz="1000" dirty="0"/>
          </a:p>
        </p:txBody>
      </p:sp>
      <p:pic>
        <p:nvPicPr>
          <p:cNvPr id="15" name="Picture 14" descr="q-11.png"/>
          <p:cNvPicPr>
            <a:picLocks noChangeAspect="1"/>
          </p:cNvPicPr>
          <p:nvPr/>
        </p:nvPicPr>
        <p:blipFill>
          <a:blip r:embed="rId3"/>
          <a:stretch>
            <a:fillRect/>
          </a:stretch>
        </p:blipFill>
        <p:spPr>
          <a:xfrm>
            <a:off x="530351" y="1666425"/>
            <a:ext cx="4491921" cy="3172968"/>
          </a:xfrm>
          <a:prstGeom prst="rect">
            <a:avLst/>
          </a:prstGeom>
        </p:spPr>
      </p:pic>
      <p:pic>
        <p:nvPicPr>
          <p:cNvPr id="16" name="Picture 15" descr="q-11 output.png"/>
          <p:cNvPicPr>
            <a:picLocks noChangeAspect="1"/>
          </p:cNvPicPr>
          <p:nvPr/>
        </p:nvPicPr>
        <p:blipFill>
          <a:blip r:embed="rId4"/>
          <a:stretch>
            <a:fillRect/>
          </a:stretch>
        </p:blipFill>
        <p:spPr>
          <a:xfrm>
            <a:off x="5343010" y="1861926"/>
            <a:ext cx="3054507" cy="259728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Key Insights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6" name="Shape 4"/>
          <p:cNvSpPr/>
          <p:nvPr/>
        </p:nvSpPr>
        <p:spPr>
          <a:xfrm>
            <a:off x="457200" y="960120"/>
            <a:ext cx="8229600" cy="566928"/>
          </a:xfrm>
          <a:prstGeom prst="rect">
            <a:avLst/>
          </a:prstGeom>
          <a:solidFill>
            <a:srgbClr val="FFF5F5"/>
          </a:solidFill>
          <a:ln w="12700">
            <a:solidFill>
              <a:srgbClr val="EEEEEE"/>
            </a:solidFill>
            <a:prstDash val="solid"/>
          </a:ln>
        </p:spPr>
      </p:sp>
      <p:sp>
        <p:nvSpPr>
          <p:cNvPr id="7" name="Shape 5"/>
          <p:cNvSpPr/>
          <p:nvPr/>
        </p:nvSpPr>
        <p:spPr>
          <a:xfrm>
            <a:off x="594360" y="1115568"/>
            <a:ext cx="256032" cy="256032"/>
          </a:xfrm>
          <a:prstGeom prst="ellipse">
            <a:avLst/>
          </a:prstGeom>
          <a:solidFill>
            <a:srgbClr val="CC0000"/>
          </a:solidFill>
          <a:ln w="12700">
            <a:solidFill>
              <a:srgbClr val="CC0000"/>
            </a:solidFill>
            <a:prstDash val="solid"/>
          </a:ln>
        </p:spPr>
      </p:sp>
      <p:sp>
        <p:nvSpPr>
          <p:cNvPr id="8" name="Text 6"/>
          <p:cNvSpPr/>
          <p:nvPr/>
        </p:nvSpPr>
        <p:spPr>
          <a:xfrm>
            <a:off x="594360" y="1115568"/>
            <a:ext cx="256032" cy="256032"/>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005840" y="1051560"/>
            <a:ext cx="7498080" cy="384048"/>
          </a:xfrm>
          <a:prstGeom prst="rect">
            <a:avLst/>
          </a:prstGeom>
          <a:noFill/>
          <a:ln/>
        </p:spPr>
        <p:txBody>
          <a:bodyPr wrap="square" rtlCol="0" anchor="ctr"/>
          <a:lstStyle/>
          <a:p>
            <a:r>
              <a:rPr lang="en-US" sz="1200" dirty="0">
                <a:solidFill>
                  <a:srgbClr val="1A1A1A"/>
                </a:solidFill>
              </a:rPr>
              <a:t>USA dominates with 131 invoices — the highest number of invoices and overall revenue</a:t>
            </a:r>
            <a:endParaRPr lang="en-US" sz="1200" dirty="0"/>
          </a:p>
        </p:txBody>
      </p:sp>
      <p:sp>
        <p:nvSpPr>
          <p:cNvPr id="10" name="Shape 8"/>
          <p:cNvSpPr/>
          <p:nvPr/>
        </p:nvSpPr>
        <p:spPr>
          <a:xfrm>
            <a:off x="457200" y="1673352"/>
            <a:ext cx="8229600" cy="566928"/>
          </a:xfrm>
          <a:prstGeom prst="rect">
            <a:avLst/>
          </a:prstGeom>
          <a:solidFill>
            <a:srgbClr val="F5F5F5"/>
          </a:solidFill>
          <a:ln w="12700">
            <a:solidFill>
              <a:srgbClr val="EEEEEE"/>
            </a:solidFill>
            <a:prstDash val="solid"/>
          </a:ln>
        </p:spPr>
      </p:sp>
      <p:sp>
        <p:nvSpPr>
          <p:cNvPr id="11" name="Shape 9"/>
          <p:cNvSpPr/>
          <p:nvPr/>
        </p:nvSpPr>
        <p:spPr>
          <a:xfrm>
            <a:off x="594360" y="1828800"/>
            <a:ext cx="256032" cy="256032"/>
          </a:xfrm>
          <a:prstGeom prst="ellipse">
            <a:avLst/>
          </a:prstGeom>
          <a:solidFill>
            <a:srgbClr val="CC0000"/>
          </a:solidFill>
          <a:ln w="12700">
            <a:solidFill>
              <a:srgbClr val="CC0000"/>
            </a:solidFill>
            <a:prstDash val="solid"/>
          </a:ln>
        </p:spPr>
      </p:sp>
      <p:sp>
        <p:nvSpPr>
          <p:cNvPr id="12" name="Text 10"/>
          <p:cNvSpPr/>
          <p:nvPr/>
        </p:nvSpPr>
        <p:spPr>
          <a:xfrm>
            <a:off x="594360" y="1828800"/>
            <a:ext cx="256032" cy="256032"/>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3" name="Text 11"/>
          <p:cNvSpPr/>
          <p:nvPr/>
        </p:nvSpPr>
        <p:spPr>
          <a:xfrm>
            <a:off x="1005840" y="1764792"/>
            <a:ext cx="7498080" cy="384048"/>
          </a:xfrm>
          <a:prstGeom prst="rect">
            <a:avLst/>
          </a:prstGeom>
          <a:noFill/>
          <a:ln/>
        </p:spPr>
        <p:txBody>
          <a:bodyPr wrap="square" rtlCol="0" anchor="ctr"/>
          <a:lstStyle/>
          <a:p>
            <a:r>
              <a:rPr lang="en-US" sz="1200" dirty="0">
                <a:solidFill>
                  <a:srgbClr val="1A1A1A"/>
                </a:solidFill>
              </a:rPr>
              <a:t>Rock is the most popular genre across almost every country in the dataset</a:t>
            </a:r>
            <a:endParaRPr lang="en-US" sz="1200" dirty="0"/>
          </a:p>
        </p:txBody>
      </p:sp>
      <p:sp>
        <p:nvSpPr>
          <p:cNvPr id="14" name="Shape 12"/>
          <p:cNvSpPr/>
          <p:nvPr/>
        </p:nvSpPr>
        <p:spPr>
          <a:xfrm>
            <a:off x="457200" y="2386584"/>
            <a:ext cx="8229600" cy="566928"/>
          </a:xfrm>
          <a:prstGeom prst="rect">
            <a:avLst/>
          </a:prstGeom>
          <a:solidFill>
            <a:srgbClr val="FFF5F5"/>
          </a:solidFill>
          <a:ln w="12700">
            <a:solidFill>
              <a:srgbClr val="EEEEEE"/>
            </a:solidFill>
            <a:prstDash val="solid"/>
          </a:ln>
        </p:spPr>
      </p:sp>
      <p:sp>
        <p:nvSpPr>
          <p:cNvPr id="15" name="Shape 13"/>
          <p:cNvSpPr/>
          <p:nvPr/>
        </p:nvSpPr>
        <p:spPr>
          <a:xfrm>
            <a:off x="594360" y="2542032"/>
            <a:ext cx="256032" cy="256032"/>
          </a:xfrm>
          <a:prstGeom prst="ellipse">
            <a:avLst/>
          </a:prstGeom>
          <a:solidFill>
            <a:srgbClr val="CC0000"/>
          </a:solidFill>
          <a:ln w="12700">
            <a:solidFill>
              <a:srgbClr val="CC0000"/>
            </a:solidFill>
            <a:prstDash val="solid"/>
          </a:ln>
        </p:spPr>
      </p:sp>
      <p:sp>
        <p:nvSpPr>
          <p:cNvPr id="16" name="Text 14"/>
          <p:cNvSpPr/>
          <p:nvPr/>
        </p:nvSpPr>
        <p:spPr>
          <a:xfrm>
            <a:off x="594360" y="2542032"/>
            <a:ext cx="256032" cy="256032"/>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17" name="Text 15"/>
          <p:cNvSpPr/>
          <p:nvPr/>
        </p:nvSpPr>
        <p:spPr>
          <a:xfrm>
            <a:off x="1005840" y="2478024"/>
            <a:ext cx="7498080" cy="384048"/>
          </a:xfrm>
          <a:prstGeom prst="rect">
            <a:avLst/>
          </a:prstGeom>
          <a:noFill/>
          <a:ln/>
        </p:spPr>
        <p:txBody>
          <a:bodyPr wrap="square" rtlCol="0" anchor="ctr"/>
          <a:lstStyle/>
          <a:p>
            <a:r>
              <a:rPr lang="en-US" sz="1200" dirty="0" err="1">
                <a:solidFill>
                  <a:srgbClr val="1A1A1A"/>
                </a:solidFill>
              </a:rPr>
              <a:t>František</a:t>
            </a:r>
            <a:r>
              <a:rPr lang="en-US" sz="1200" dirty="0">
                <a:solidFill>
                  <a:srgbClr val="1A1A1A"/>
                </a:solidFill>
              </a:rPr>
              <a:t> </a:t>
            </a:r>
            <a:r>
              <a:rPr lang="en-US" sz="1200" dirty="0" err="1">
                <a:solidFill>
                  <a:srgbClr val="1A1A1A"/>
                </a:solidFill>
              </a:rPr>
              <a:t>Wichterlóvá</a:t>
            </a:r>
            <a:r>
              <a:rPr lang="en-US" sz="1200" dirty="0">
                <a:solidFill>
                  <a:srgbClr val="1A1A1A"/>
                </a:solidFill>
              </a:rPr>
              <a:t> is the best customer with total spending of $144.54</a:t>
            </a:r>
            <a:endParaRPr lang="en-US" sz="1200" dirty="0"/>
          </a:p>
        </p:txBody>
      </p:sp>
      <p:sp>
        <p:nvSpPr>
          <p:cNvPr id="18" name="Shape 16"/>
          <p:cNvSpPr/>
          <p:nvPr/>
        </p:nvSpPr>
        <p:spPr>
          <a:xfrm>
            <a:off x="457200" y="3099816"/>
            <a:ext cx="8229600" cy="566928"/>
          </a:xfrm>
          <a:prstGeom prst="rect">
            <a:avLst/>
          </a:prstGeom>
          <a:solidFill>
            <a:srgbClr val="F5F5F5"/>
          </a:solidFill>
          <a:ln w="12700">
            <a:solidFill>
              <a:srgbClr val="EEEEEE"/>
            </a:solidFill>
            <a:prstDash val="solid"/>
          </a:ln>
        </p:spPr>
      </p:sp>
      <p:sp>
        <p:nvSpPr>
          <p:cNvPr id="19" name="Shape 17"/>
          <p:cNvSpPr/>
          <p:nvPr/>
        </p:nvSpPr>
        <p:spPr>
          <a:xfrm>
            <a:off x="594360" y="3255264"/>
            <a:ext cx="256032" cy="256032"/>
          </a:xfrm>
          <a:prstGeom prst="ellipse">
            <a:avLst/>
          </a:prstGeom>
          <a:solidFill>
            <a:srgbClr val="CC0000"/>
          </a:solidFill>
          <a:ln w="12700">
            <a:solidFill>
              <a:srgbClr val="CC0000"/>
            </a:solidFill>
            <a:prstDash val="solid"/>
          </a:ln>
        </p:spPr>
      </p:sp>
      <p:sp>
        <p:nvSpPr>
          <p:cNvPr id="20" name="Text 18"/>
          <p:cNvSpPr/>
          <p:nvPr/>
        </p:nvSpPr>
        <p:spPr>
          <a:xfrm>
            <a:off x="594360" y="3255264"/>
            <a:ext cx="256032" cy="256032"/>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21" name="Text 19"/>
          <p:cNvSpPr/>
          <p:nvPr/>
        </p:nvSpPr>
        <p:spPr>
          <a:xfrm>
            <a:off x="1005840" y="3191256"/>
            <a:ext cx="7498080" cy="384048"/>
          </a:xfrm>
          <a:prstGeom prst="rect">
            <a:avLst/>
          </a:prstGeom>
          <a:noFill/>
          <a:ln/>
        </p:spPr>
        <p:txBody>
          <a:bodyPr wrap="square" rtlCol="0" anchor="ctr"/>
          <a:lstStyle/>
          <a:p>
            <a:r>
              <a:rPr lang="en-US" sz="1200" dirty="0">
                <a:solidFill>
                  <a:srgbClr val="1A1A1A"/>
                </a:solidFill>
              </a:rPr>
              <a:t>Prague generated the highest revenue ($273.24) — best city for a Music Festival</a:t>
            </a:r>
            <a:endParaRPr lang="en-US" sz="1200" dirty="0"/>
          </a:p>
        </p:txBody>
      </p:sp>
      <p:sp>
        <p:nvSpPr>
          <p:cNvPr id="22" name="Shape 20"/>
          <p:cNvSpPr/>
          <p:nvPr/>
        </p:nvSpPr>
        <p:spPr>
          <a:xfrm>
            <a:off x="457200" y="3813048"/>
            <a:ext cx="8229600" cy="566928"/>
          </a:xfrm>
          <a:prstGeom prst="rect">
            <a:avLst/>
          </a:prstGeom>
          <a:solidFill>
            <a:srgbClr val="FFF5F5"/>
          </a:solidFill>
          <a:ln w="12700">
            <a:solidFill>
              <a:srgbClr val="EEEEEE"/>
            </a:solidFill>
            <a:prstDash val="solid"/>
          </a:ln>
        </p:spPr>
      </p:sp>
      <p:sp>
        <p:nvSpPr>
          <p:cNvPr id="23" name="Shape 21"/>
          <p:cNvSpPr/>
          <p:nvPr/>
        </p:nvSpPr>
        <p:spPr>
          <a:xfrm>
            <a:off x="594360" y="3968496"/>
            <a:ext cx="256032" cy="256032"/>
          </a:xfrm>
          <a:prstGeom prst="ellipse">
            <a:avLst/>
          </a:prstGeom>
          <a:solidFill>
            <a:srgbClr val="CC0000"/>
          </a:solidFill>
          <a:ln w="12700">
            <a:solidFill>
              <a:srgbClr val="CC0000"/>
            </a:solidFill>
            <a:prstDash val="solid"/>
          </a:ln>
        </p:spPr>
      </p:sp>
      <p:sp>
        <p:nvSpPr>
          <p:cNvPr id="24" name="Text 22"/>
          <p:cNvSpPr/>
          <p:nvPr/>
        </p:nvSpPr>
        <p:spPr>
          <a:xfrm>
            <a:off x="594360" y="3968496"/>
            <a:ext cx="256032" cy="256032"/>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sp>
        <p:nvSpPr>
          <p:cNvPr id="25" name="Text 23"/>
          <p:cNvSpPr/>
          <p:nvPr/>
        </p:nvSpPr>
        <p:spPr>
          <a:xfrm>
            <a:off x="1005840" y="3904488"/>
            <a:ext cx="7498080" cy="384048"/>
          </a:xfrm>
          <a:prstGeom prst="rect">
            <a:avLst/>
          </a:prstGeom>
          <a:noFill/>
          <a:ln/>
        </p:spPr>
        <p:txBody>
          <a:bodyPr wrap="square" rtlCol="0" anchor="ctr"/>
          <a:lstStyle/>
          <a:p>
            <a:r>
              <a:rPr lang="en-US" sz="1200" dirty="0">
                <a:solidFill>
                  <a:srgbClr val="1A1A1A"/>
                </a:solidFill>
              </a:rPr>
              <a:t>AC/DC leads Rock with 18 tracks, followed by Aerosmith (15) and </a:t>
            </a:r>
            <a:r>
              <a:rPr lang="en-US" sz="1200" dirty="0" err="1">
                <a:solidFill>
                  <a:srgbClr val="1A1A1A"/>
                </a:solidFill>
              </a:rPr>
              <a:t>Audioslave</a:t>
            </a:r>
            <a:r>
              <a:rPr lang="en-US" sz="1200" dirty="0">
                <a:solidFill>
                  <a:srgbClr val="1A1A1A"/>
                </a:solidFill>
              </a:rPr>
              <a:t> (14)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Conclusion</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7" name="Text 5"/>
          <p:cNvSpPr/>
          <p:nvPr/>
        </p:nvSpPr>
        <p:spPr>
          <a:xfrm>
            <a:off x="457200" y="914400"/>
            <a:ext cx="384048" cy="38404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0" y="685800"/>
            <a:ext cx="9144000" cy="4457700"/>
          </a:xfrm>
          <a:prstGeom prst="rect">
            <a:avLst/>
          </a:prstGeom>
          <a:noFill/>
          <a:ln/>
        </p:spPr>
        <p:txBody>
          <a:bodyPr wrap="square" rtlCol="0" anchor="ctr"/>
          <a:lstStyle/>
          <a:p>
            <a:endParaRPr lang="en-US" sz="1400" dirty="0"/>
          </a:p>
        </p:txBody>
      </p:sp>
      <p:sp>
        <p:nvSpPr>
          <p:cNvPr id="10" name="Text 8"/>
          <p:cNvSpPr/>
          <p:nvPr/>
        </p:nvSpPr>
        <p:spPr>
          <a:xfrm>
            <a:off x="457200" y="1554480"/>
            <a:ext cx="384048" cy="384048"/>
          </a:xfrm>
          <a:prstGeom prst="rect">
            <a:avLst/>
          </a:prstGeom>
          <a:noFill/>
          <a:ln/>
        </p:spPr>
        <p:txBody>
          <a:bodyPr wrap="square" rtlCol="0" anchor="ctr"/>
          <a:lstStyle/>
          <a:p>
            <a:pPr marL="0" indent="0" algn="ctr">
              <a:buNone/>
            </a:pPr>
            <a:endParaRPr lang="en-US" sz="1400" dirty="0"/>
          </a:p>
        </p:txBody>
      </p:sp>
      <p:sp>
        <p:nvSpPr>
          <p:cNvPr id="11" name="Text 9"/>
          <p:cNvSpPr/>
          <p:nvPr/>
        </p:nvSpPr>
        <p:spPr>
          <a:xfrm>
            <a:off x="1005840" y="1581912"/>
            <a:ext cx="7589520" cy="347472"/>
          </a:xfrm>
          <a:prstGeom prst="rect">
            <a:avLst/>
          </a:prstGeom>
          <a:noFill/>
          <a:ln/>
        </p:spPr>
        <p:txBody>
          <a:bodyPr wrap="square" rtlCol="0" anchor="ctr"/>
          <a:lstStyle/>
          <a:p>
            <a:endParaRPr lang="en-US" sz="1400" dirty="0"/>
          </a:p>
        </p:txBody>
      </p:sp>
      <p:sp>
        <p:nvSpPr>
          <p:cNvPr id="13" name="Text 11"/>
          <p:cNvSpPr/>
          <p:nvPr/>
        </p:nvSpPr>
        <p:spPr>
          <a:xfrm>
            <a:off x="457200" y="2194560"/>
            <a:ext cx="384048" cy="384048"/>
          </a:xfrm>
          <a:prstGeom prst="rect">
            <a:avLst/>
          </a:prstGeom>
          <a:noFill/>
          <a:ln/>
        </p:spPr>
        <p:txBody>
          <a:bodyPr wrap="square" rtlCol="0" anchor="ctr"/>
          <a:lstStyle/>
          <a:p>
            <a:pPr marL="0" indent="0" algn="ctr">
              <a:buNone/>
            </a:pPr>
            <a:endParaRPr lang="en-US" sz="1400" dirty="0"/>
          </a:p>
        </p:txBody>
      </p:sp>
      <p:sp>
        <p:nvSpPr>
          <p:cNvPr id="14" name="Text 12"/>
          <p:cNvSpPr/>
          <p:nvPr/>
        </p:nvSpPr>
        <p:spPr>
          <a:xfrm>
            <a:off x="1005840" y="2221992"/>
            <a:ext cx="7589520" cy="347472"/>
          </a:xfrm>
          <a:prstGeom prst="rect">
            <a:avLst/>
          </a:prstGeom>
          <a:noFill/>
          <a:ln/>
        </p:spPr>
        <p:txBody>
          <a:bodyPr wrap="square" rtlCol="0" anchor="ctr"/>
          <a:lstStyle/>
          <a:p>
            <a:endParaRPr lang="en-US" sz="1400" dirty="0"/>
          </a:p>
        </p:txBody>
      </p:sp>
      <p:sp>
        <p:nvSpPr>
          <p:cNvPr id="16" name="Text 14"/>
          <p:cNvSpPr/>
          <p:nvPr/>
        </p:nvSpPr>
        <p:spPr>
          <a:xfrm>
            <a:off x="457200" y="2834640"/>
            <a:ext cx="384048" cy="384048"/>
          </a:xfrm>
          <a:prstGeom prst="rect">
            <a:avLst/>
          </a:prstGeom>
          <a:noFill/>
          <a:ln/>
        </p:spPr>
        <p:txBody>
          <a:bodyPr wrap="square" rtlCol="0" anchor="ctr"/>
          <a:lstStyle/>
          <a:p>
            <a:pPr marL="0" indent="0" algn="ctr">
              <a:buNone/>
            </a:pPr>
            <a:endParaRPr lang="en-US" sz="1400" dirty="0"/>
          </a:p>
        </p:txBody>
      </p:sp>
      <p:sp>
        <p:nvSpPr>
          <p:cNvPr id="17" name="Text 15"/>
          <p:cNvSpPr/>
          <p:nvPr/>
        </p:nvSpPr>
        <p:spPr>
          <a:xfrm>
            <a:off x="666404" y="2834640"/>
            <a:ext cx="7589520" cy="347472"/>
          </a:xfrm>
          <a:prstGeom prst="rect">
            <a:avLst/>
          </a:prstGeom>
          <a:noFill/>
          <a:ln/>
        </p:spPr>
        <p:txBody>
          <a:bodyPr wrap="square" rtlCol="0" anchor="ctr"/>
          <a:lstStyle/>
          <a:p>
            <a:endParaRPr lang="en-US" sz="1400" dirty="0"/>
          </a:p>
        </p:txBody>
      </p:sp>
      <p:sp>
        <p:nvSpPr>
          <p:cNvPr id="19" name="Text 17"/>
          <p:cNvSpPr/>
          <p:nvPr/>
        </p:nvSpPr>
        <p:spPr>
          <a:xfrm>
            <a:off x="457200" y="3474720"/>
            <a:ext cx="384048" cy="384048"/>
          </a:xfrm>
          <a:prstGeom prst="rect">
            <a:avLst/>
          </a:prstGeom>
          <a:noFill/>
          <a:ln/>
        </p:spPr>
        <p:txBody>
          <a:bodyPr wrap="square" rtlCol="0" anchor="ctr"/>
          <a:lstStyle/>
          <a:p>
            <a:pPr marL="0" indent="0" algn="ctr">
              <a:buNone/>
            </a:pPr>
            <a:endParaRPr lang="en-US" sz="1400" dirty="0"/>
          </a:p>
        </p:txBody>
      </p:sp>
      <p:sp>
        <p:nvSpPr>
          <p:cNvPr id="20" name="Text 18"/>
          <p:cNvSpPr/>
          <p:nvPr/>
        </p:nvSpPr>
        <p:spPr>
          <a:xfrm>
            <a:off x="1005840" y="3502152"/>
            <a:ext cx="7589520" cy="347472"/>
          </a:xfrm>
          <a:prstGeom prst="rect">
            <a:avLst/>
          </a:prstGeom>
          <a:noFill/>
          <a:ln/>
        </p:spPr>
        <p:txBody>
          <a:bodyPr wrap="square" rtlCol="0" anchor="ctr"/>
          <a:lstStyle/>
          <a:p>
            <a:endParaRPr lang="en-US" sz="1400" dirty="0"/>
          </a:p>
        </p:txBody>
      </p:sp>
      <p:sp>
        <p:nvSpPr>
          <p:cNvPr id="22" name="Text 20"/>
          <p:cNvSpPr/>
          <p:nvPr/>
        </p:nvSpPr>
        <p:spPr>
          <a:xfrm>
            <a:off x="457200" y="4114800"/>
            <a:ext cx="384048" cy="384048"/>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3" name="Text 21"/>
          <p:cNvSpPr/>
          <p:nvPr/>
        </p:nvSpPr>
        <p:spPr>
          <a:xfrm>
            <a:off x="1005840" y="4142232"/>
            <a:ext cx="7589520" cy="1001268"/>
          </a:xfrm>
          <a:prstGeom prst="rect">
            <a:avLst/>
          </a:prstGeom>
          <a:noFill/>
          <a:ln/>
        </p:spPr>
        <p:txBody>
          <a:bodyPr wrap="square" rtlCol="0" anchor="ctr"/>
          <a:lstStyle/>
          <a:p>
            <a:endParaRPr lang="en-US" sz="1400" dirty="0"/>
          </a:p>
        </p:txBody>
      </p:sp>
      <p:sp>
        <p:nvSpPr>
          <p:cNvPr id="25" name="Shape 4"/>
          <p:cNvSpPr/>
          <p:nvPr/>
        </p:nvSpPr>
        <p:spPr>
          <a:xfrm>
            <a:off x="666404" y="1125808"/>
            <a:ext cx="7837516" cy="3536248"/>
          </a:xfrm>
          <a:prstGeom prst="rect">
            <a:avLst/>
          </a:prstGeom>
          <a:solidFill>
            <a:srgbClr val="FFF5F5"/>
          </a:solidFill>
          <a:ln w="12700">
            <a:solidFill>
              <a:srgbClr val="FFCCCC"/>
            </a:solidFill>
            <a:prstDash val="solid"/>
          </a:ln>
        </p:spPr>
      </p:sp>
      <p:sp>
        <p:nvSpPr>
          <p:cNvPr id="27" name="TextBox 26"/>
          <p:cNvSpPr txBox="1"/>
          <p:nvPr/>
        </p:nvSpPr>
        <p:spPr>
          <a:xfrm>
            <a:off x="666404" y="1125808"/>
            <a:ext cx="7837516" cy="3016210"/>
          </a:xfrm>
          <a:prstGeom prst="rect">
            <a:avLst/>
          </a:prstGeom>
          <a:noFill/>
        </p:spPr>
        <p:txBody>
          <a:bodyPr wrap="square" rtlCol="0">
            <a:spAutoFit/>
          </a:bodyPr>
          <a:lstStyle/>
          <a:p>
            <a:pPr>
              <a:buFont typeface="Arial" pitchFamily="34" charset="0"/>
              <a:buChar char="•"/>
            </a:pPr>
            <a:endParaRPr lang="en-US" sz="1400" dirty="0">
              <a:solidFill>
                <a:srgbClr val="1A1A1A"/>
              </a:solidFill>
            </a:endParaRPr>
          </a:p>
          <a:p>
            <a:r>
              <a:rPr lang="en-US" sz="1600" dirty="0"/>
              <a:t>The </a:t>
            </a:r>
            <a:r>
              <a:rPr lang="en-US" sz="1600" b="1" dirty="0"/>
              <a:t>Music Store Management System</a:t>
            </a:r>
            <a:r>
              <a:rPr lang="en-US" sz="1600" dirty="0"/>
              <a:t> effectively demonstrates how SQL can be used to manage and analyze large datasets in an efficient manner.</a:t>
            </a:r>
          </a:p>
          <a:p>
            <a:pPr marL="285750" indent="-285750">
              <a:buFont typeface="Wingdings" panose="05000000000000000000" pitchFamily="2" charset="2"/>
              <a:buChar char="Ø"/>
            </a:pPr>
            <a:r>
              <a:rPr lang="en-US" sz="1600" dirty="0"/>
              <a:t>It provides a centralized database system for organized data storage </a:t>
            </a:r>
          </a:p>
          <a:p>
            <a:pPr marL="285750" indent="-285750">
              <a:buFont typeface="Wingdings" panose="05000000000000000000" pitchFamily="2" charset="2"/>
              <a:buChar char="Ø"/>
            </a:pPr>
            <a:r>
              <a:rPr lang="en-US" sz="1600" dirty="0"/>
              <a:t>Improves data accuracy and consistency across operations </a:t>
            </a:r>
          </a:p>
          <a:p>
            <a:pPr marL="285750" indent="-285750">
              <a:buFont typeface="Wingdings" panose="05000000000000000000" pitchFamily="2" charset="2"/>
              <a:buChar char="Ø"/>
            </a:pPr>
            <a:r>
              <a:rPr lang="en-US" sz="1600" dirty="0"/>
              <a:t>Enables fast and reliable data retrieval and analysis </a:t>
            </a:r>
          </a:p>
          <a:p>
            <a:pPr marL="285750" indent="-285750">
              <a:buFont typeface="Wingdings" panose="05000000000000000000" pitchFamily="2" charset="2"/>
              <a:buChar char="Ø"/>
            </a:pPr>
            <a:r>
              <a:rPr lang="en-US" sz="1600" dirty="0"/>
              <a:t>Helps identify customer behavior and sales trends </a:t>
            </a:r>
          </a:p>
          <a:p>
            <a:pPr marL="285750" indent="-285750">
              <a:buFont typeface="Wingdings" panose="05000000000000000000" pitchFamily="2" charset="2"/>
              <a:buChar char="Ø"/>
            </a:pPr>
            <a:r>
              <a:rPr lang="en-US" sz="1600" dirty="0"/>
              <a:t>Supports informed and strategic business decision-making </a:t>
            </a:r>
          </a:p>
          <a:p>
            <a:r>
              <a:rPr lang="en-US" sz="1600" dirty="0"/>
              <a:t>Overall, this project transforms raw data into meaningful insights, enhancing operational efficiency and improving overall business performance.</a:t>
            </a:r>
          </a:p>
          <a:p>
            <a:endParaRPr lang="en-US" sz="1600" dirty="0"/>
          </a:p>
          <a:p>
            <a:endParaRPr lang="en-US" sz="1600" dirty="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C0000"/>
          </a:solidFill>
          <a:ln w="12700">
            <a:solidFill>
              <a:srgbClr val="CC0000"/>
            </a:solidFill>
            <a:prstDash val="solid"/>
          </a:ln>
        </p:spPr>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rPr>
              <a:t>Recommendations</a:t>
            </a:r>
            <a:endParaRPr lang="en-US" sz="2200" dirty="0"/>
          </a:p>
        </p:txBody>
      </p:sp>
      <p:sp>
        <p:nvSpPr>
          <p:cNvPr id="5" name="Text 3"/>
          <p:cNvSpPr/>
          <p:nvPr/>
        </p:nvSpPr>
        <p:spPr>
          <a:xfrm>
            <a:off x="365760" y="4846320"/>
            <a:ext cx="8229600" cy="297180"/>
          </a:xfrm>
          <a:prstGeom prst="rect">
            <a:avLst/>
          </a:prstGeom>
          <a:noFill/>
          <a:ln/>
        </p:spPr>
        <p:txBody>
          <a:bodyPr wrap="square" rtlCol="0" anchor="ctr"/>
          <a:lstStyle/>
          <a:p>
            <a:pPr marL="0" indent="0">
              <a:buNone/>
            </a:pPr>
            <a:endParaRPr lang="en-US" sz="900" dirty="0"/>
          </a:p>
        </p:txBody>
      </p:sp>
      <p:sp>
        <p:nvSpPr>
          <p:cNvPr id="7" name="Text 5"/>
          <p:cNvSpPr/>
          <p:nvPr/>
        </p:nvSpPr>
        <p:spPr>
          <a:xfrm>
            <a:off x="457200" y="914400"/>
            <a:ext cx="384048" cy="38404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0" y="685800"/>
            <a:ext cx="9144000" cy="4457700"/>
          </a:xfrm>
          <a:prstGeom prst="rect">
            <a:avLst/>
          </a:prstGeom>
          <a:noFill/>
          <a:ln/>
        </p:spPr>
        <p:txBody>
          <a:bodyPr wrap="square" rtlCol="0" anchor="ctr"/>
          <a:lstStyle/>
          <a:p>
            <a:endParaRPr lang="en-US" sz="1400" dirty="0"/>
          </a:p>
        </p:txBody>
      </p:sp>
      <p:sp>
        <p:nvSpPr>
          <p:cNvPr id="10" name="Text 8"/>
          <p:cNvSpPr/>
          <p:nvPr/>
        </p:nvSpPr>
        <p:spPr>
          <a:xfrm>
            <a:off x="457200" y="1554480"/>
            <a:ext cx="384048" cy="384048"/>
          </a:xfrm>
          <a:prstGeom prst="rect">
            <a:avLst/>
          </a:prstGeom>
          <a:noFill/>
          <a:ln/>
        </p:spPr>
        <p:txBody>
          <a:bodyPr wrap="square" rtlCol="0" anchor="ctr"/>
          <a:lstStyle/>
          <a:p>
            <a:pPr marL="0" indent="0" algn="ctr">
              <a:buNone/>
            </a:pPr>
            <a:endParaRPr lang="en-US" sz="1400" dirty="0"/>
          </a:p>
        </p:txBody>
      </p:sp>
      <p:sp>
        <p:nvSpPr>
          <p:cNvPr id="11" name="Text 9"/>
          <p:cNvSpPr/>
          <p:nvPr/>
        </p:nvSpPr>
        <p:spPr>
          <a:xfrm>
            <a:off x="1005840" y="1581912"/>
            <a:ext cx="7589520" cy="347472"/>
          </a:xfrm>
          <a:prstGeom prst="rect">
            <a:avLst/>
          </a:prstGeom>
          <a:noFill/>
          <a:ln/>
        </p:spPr>
        <p:txBody>
          <a:bodyPr wrap="square" rtlCol="0" anchor="ctr"/>
          <a:lstStyle/>
          <a:p>
            <a:endParaRPr lang="en-US" sz="1400" dirty="0"/>
          </a:p>
        </p:txBody>
      </p:sp>
      <p:sp>
        <p:nvSpPr>
          <p:cNvPr id="13" name="Text 11"/>
          <p:cNvSpPr/>
          <p:nvPr/>
        </p:nvSpPr>
        <p:spPr>
          <a:xfrm>
            <a:off x="457200" y="2194560"/>
            <a:ext cx="384048" cy="384048"/>
          </a:xfrm>
          <a:prstGeom prst="rect">
            <a:avLst/>
          </a:prstGeom>
          <a:noFill/>
          <a:ln/>
        </p:spPr>
        <p:txBody>
          <a:bodyPr wrap="square" rtlCol="0" anchor="ctr"/>
          <a:lstStyle/>
          <a:p>
            <a:pPr marL="0" indent="0" algn="ctr">
              <a:buNone/>
            </a:pPr>
            <a:endParaRPr lang="en-US" sz="1400" dirty="0"/>
          </a:p>
        </p:txBody>
      </p:sp>
      <p:sp>
        <p:nvSpPr>
          <p:cNvPr id="14" name="Text 12"/>
          <p:cNvSpPr/>
          <p:nvPr/>
        </p:nvSpPr>
        <p:spPr>
          <a:xfrm>
            <a:off x="1005840" y="2221992"/>
            <a:ext cx="7589520" cy="347472"/>
          </a:xfrm>
          <a:prstGeom prst="rect">
            <a:avLst/>
          </a:prstGeom>
          <a:noFill/>
          <a:ln/>
        </p:spPr>
        <p:txBody>
          <a:bodyPr wrap="square" rtlCol="0" anchor="ctr"/>
          <a:lstStyle/>
          <a:p>
            <a:endParaRPr lang="en-US" sz="1400" dirty="0"/>
          </a:p>
        </p:txBody>
      </p:sp>
      <p:sp>
        <p:nvSpPr>
          <p:cNvPr id="16" name="Text 14"/>
          <p:cNvSpPr/>
          <p:nvPr/>
        </p:nvSpPr>
        <p:spPr>
          <a:xfrm>
            <a:off x="457200" y="2834640"/>
            <a:ext cx="384048" cy="384048"/>
          </a:xfrm>
          <a:prstGeom prst="rect">
            <a:avLst/>
          </a:prstGeom>
          <a:noFill/>
          <a:ln/>
        </p:spPr>
        <p:txBody>
          <a:bodyPr wrap="square" rtlCol="0" anchor="ctr"/>
          <a:lstStyle/>
          <a:p>
            <a:pPr marL="0" indent="0" algn="ctr">
              <a:buNone/>
            </a:pPr>
            <a:endParaRPr lang="en-US" sz="1400" dirty="0"/>
          </a:p>
        </p:txBody>
      </p:sp>
      <p:sp>
        <p:nvSpPr>
          <p:cNvPr id="17" name="Text 15"/>
          <p:cNvSpPr/>
          <p:nvPr/>
        </p:nvSpPr>
        <p:spPr>
          <a:xfrm>
            <a:off x="666404" y="2834640"/>
            <a:ext cx="7589520" cy="347472"/>
          </a:xfrm>
          <a:prstGeom prst="rect">
            <a:avLst/>
          </a:prstGeom>
          <a:noFill/>
          <a:ln/>
        </p:spPr>
        <p:txBody>
          <a:bodyPr wrap="square" rtlCol="0" anchor="ctr"/>
          <a:lstStyle/>
          <a:p>
            <a:endParaRPr lang="en-US" sz="1400" dirty="0"/>
          </a:p>
        </p:txBody>
      </p:sp>
      <p:sp>
        <p:nvSpPr>
          <p:cNvPr id="19" name="Text 17"/>
          <p:cNvSpPr/>
          <p:nvPr/>
        </p:nvSpPr>
        <p:spPr>
          <a:xfrm>
            <a:off x="457200" y="3474720"/>
            <a:ext cx="384048" cy="384048"/>
          </a:xfrm>
          <a:prstGeom prst="rect">
            <a:avLst/>
          </a:prstGeom>
          <a:noFill/>
          <a:ln/>
        </p:spPr>
        <p:txBody>
          <a:bodyPr wrap="square" rtlCol="0" anchor="ctr"/>
          <a:lstStyle/>
          <a:p>
            <a:pPr marL="0" indent="0" algn="ctr">
              <a:buNone/>
            </a:pPr>
            <a:endParaRPr lang="en-US" sz="1400" dirty="0"/>
          </a:p>
        </p:txBody>
      </p:sp>
      <p:sp>
        <p:nvSpPr>
          <p:cNvPr id="20" name="Text 18"/>
          <p:cNvSpPr/>
          <p:nvPr/>
        </p:nvSpPr>
        <p:spPr>
          <a:xfrm>
            <a:off x="1005840" y="3502152"/>
            <a:ext cx="7589520" cy="347472"/>
          </a:xfrm>
          <a:prstGeom prst="rect">
            <a:avLst/>
          </a:prstGeom>
          <a:noFill/>
          <a:ln/>
        </p:spPr>
        <p:txBody>
          <a:bodyPr wrap="square" rtlCol="0" anchor="ctr"/>
          <a:lstStyle/>
          <a:p>
            <a:endParaRPr lang="en-US" sz="1400" dirty="0"/>
          </a:p>
        </p:txBody>
      </p:sp>
      <p:sp>
        <p:nvSpPr>
          <p:cNvPr id="22" name="Text 20"/>
          <p:cNvSpPr/>
          <p:nvPr/>
        </p:nvSpPr>
        <p:spPr>
          <a:xfrm>
            <a:off x="457200" y="4114800"/>
            <a:ext cx="384048" cy="384048"/>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3" name="Text 21"/>
          <p:cNvSpPr/>
          <p:nvPr/>
        </p:nvSpPr>
        <p:spPr>
          <a:xfrm>
            <a:off x="1005840" y="4142232"/>
            <a:ext cx="7589520" cy="1001268"/>
          </a:xfrm>
          <a:prstGeom prst="rect">
            <a:avLst/>
          </a:prstGeom>
          <a:noFill/>
          <a:ln/>
        </p:spPr>
        <p:txBody>
          <a:bodyPr wrap="square" rtlCol="0" anchor="ctr"/>
          <a:lstStyle/>
          <a:p>
            <a:endParaRPr lang="en-US" sz="1400" dirty="0"/>
          </a:p>
        </p:txBody>
      </p:sp>
      <p:sp>
        <p:nvSpPr>
          <p:cNvPr id="25" name="Shape 4"/>
          <p:cNvSpPr/>
          <p:nvPr/>
        </p:nvSpPr>
        <p:spPr>
          <a:xfrm>
            <a:off x="666404" y="1125808"/>
            <a:ext cx="7837516" cy="3536248"/>
          </a:xfrm>
          <a:prstGeom prst="rect">
            <a:avLst/>
          </a:prstGeom>
          <a:solidFill>
            <a:srgbClr val="FFF5F5"/>
          </a:solidFill>
          <a:ln w="12700">
            <a:solidFill>
              <a:srgbClr val="FFCCCC"/>
            </a:solidFill>
            <a:prstDash val="solid"/>
          </a:ln>
        </p:spPr>
      </p:sp>
      <p:sp>
        <p:nvSpPr>
          <p:cNvPr id="27" name="TextBox 26"/>
          <p:cNvSpPr txBox="1"/>
          <p:nvPr/>
        </p:nvSpPr>
        <p:spPr>
          <a:xfrm>
            <a:off x="666404" y="1125808"/>
            <a:ext cx="7837516" cy="3308598"/>
          </a:xfrm>
          <a:prstGeom prst="rect">
            <a:avLst/>
          </a:prstGeom>
          <a:noFill/>
        </p:spPr>
        <p:txBody>
          <a:bodyPr wrap="square" rtlCol="0">
            <a:spAutoFit/>
          </a:bodyPr>
          <a:lstStyle/>
          <a:p>
            <a:r>
              <a:rPr lang="en-US" sz="1700" b="1" dirty="0"/>
              <a:t>Strategic Recommendations for Music Store Growth</a:t>
            </a:r>
          </a:p>
          <a:p>
            <a:pPr marL="285750" indent="-285750">
              <a:buFont typeface="Arial" panose="020B0604020202020204" pitchFamily="34" charset="0"/>
              <a:buChar char="•"/>
            </a:pPr>
            <a:r>
              <a:rPr lang="en-US" sz="1600" dirty="0"/>
              <a:t>Focus marketing campaigns and music events on </a:t>
            </a:r>
            <a:r>
              <a:rPr lang="en-US" sz="1600" b="1" dirty="0"/>
              <a:t>high-revenue cities</a:t>
            </a:r>
            <a:r>
              <a:rPr lang="en-US" sz="1600" dirty="0"/>
              <a:t> to maximize returns. </a:t>
            </a:r>
          </a:p>
          <a:p>
            <a:pPr marL="285750" indent="-285750">
              <a:buFont typeface="Arial" panose="020B0604020202020204" pitchFamily="34" charset="0"/>
              <a:buChar char="•"/>
            </a:pPr>
            <a:r>
              <a:rPr lang="en-US" sz="1600" dirty="0"/>
              <a:t>Promote </a:t>
            </a:r>
            <a:r>
              <a:rPr lang="en-US" sz="1600" b="1" dirty="0"/>
              <a:t>popular genres such as Rock</a:t>
            </a:r>
            <a:r>
              <a:rPr lang="en-US" sz="1600" dirty="0"/>
              <a:t> to drive higher sales and customer interest. </a:t>
            </a:r>
          </a:p>
          <a:p>
            <a:pPr marL="285750" indent="-285750">
              <a:buFont typeface="Arial" panose="020B0604020202020204" pitchFamily="34" charset="0"/>
              <a:buChar char="•"/>
            </a:pPr>
            <a:r>
              <a:rPr lang="en-US" sz="1600" dirty="0"/>
              <a:t>Offer exclusive deals and rewards to </a:t>
            </a:r>
            <a:r>
              <a:rPr lang="en-US" sz="1600" b="1" dirty="0"/>
              <a:t>top customers</a:t>
            </a:r>
            <a:r>
              <a:rPr lang="en-US" sz="1600" dirty="0"/>
              <a:t> to improve retention and loyalty. </a:t>
            </a:r>
          </a:p>
          <a:p>
            <a:pPr marL="285750" indent="-285750">
              <a:buFont typeface="Arial" panose="020B0604020202020204" pitchFamily="34" charset="0"/>
              <a:buChar char="•"/>
            </a:pPr>
            <a:r>
              <a:rPr lang="en-US" sz="1600" dirty="0"/>
              <a:t>Implement </a:t>
            </a:r>
            <a:r>
              <a:rPr lang="en-US" sz="1600" b="1" dirty="0"/>
              <a:t>personalized recommendations</a:t>
            </a:r>
            <a:r>
              <a:rPr lang="en-US" sz="1600" dirty="0"/>
              <a:t> based on customer preferences and purchase history. </a:t>
            </a:r>
          </a:p>
          <a:p>
            <a:pPr marL="285750" indent="-285750">
              <a:buFont typeface="Arial" panose="020B0604020202020204" pitchFamily="34" charset="0"/>
              <a:buChar char="•"/>
            </a:pPr>
            <a:r>
              <a:rPr lang="en-US" sz="1600" dirty="0"/>
              <a:t>Boost visibility of </a:t>
            </a:r>
            <a:r>
              <a:rPr lang="en-US" sz="1600" b="1" dirty="0"/>
              <a:t>low-performing genres or tracks</a:t>
            </a:r>
            <a:r>
              <a:rPr lang="en-US" sz="1600" dirty="0"/>
              <a:t> through targeted discounts and promotions. </a:t>
            </a:r>
          </a:p>
          <a:p>
            <a:pPr marL="285750" indent="-285750">
              <a:buFont typeface="Arial" panose="020B0604020202020204" pitchFamily="34" charset="0"/>
              <a:buChar char="•"/>
            </a:pPr>
            <a:r>
              <a:rPr lang="en-US" sz="1600" dirty="0"/>
              <a:t>Conduct </a:t>
            </a:r>
            <a:r>
              <a:rPr lang="en-US" sz="1600" b="1" dirty="0"/>
              <a:t>regular sales analysis</a:t>
            </a:r>
            <a:r>
              <a:rPr lang="en-US" sz="1600" dirty="0"/>
              <a:t> to identify patterns, trends, and growth opportunities. </a:t>
            </a:r>
          </a:p>
          <a:p>
            <a:pPr marL="285750" indent="-285750">
              <a:buFont typeface="Arial" panose="020B0604020202020204" pitchFamily="34" charset="0"/>
              <a:buChar char="•"/>
            </a:pPr>
            <a:r>
              <a:rPr lang="en-US" sz="1600" dirty="0"/>
              <a:t>Leverage </a:t>
            </a:r>
            <a:r>
              <a:rPr lang="en-US" sz="1600" b="1" dirty="0"/>
              <a:t>data-driven insights</a:t>
            </a:r>
            <a:r>
              <a:rPr lang="en-US" sz="1600" dirty="0"/>
              <a:t> to enhance customer experience and increase engagement. </a:t>
            </a:r>
          </a:p>
          <a:p>
            <a:endParaRPr lang="en-US" sz="1600" dirty="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png"/>
          <p:cNvPicPr>
            <a:picLocks noChangeAspect="1"/>
          </p:cNvPicPr>
          <p:nvPr/>
        </p:nvPicPr>
        <p:blipFill>
          <a:blip r:embed="rId2"/>
          <a:stretch>
            <a:fillRect/>
          </a:stretch>
        </p:blipFill>
        <p:spPr>
          <a:xfrm>
            <a:off x="0" y="0"/>
            <a:ext cx="9144000" cy="51434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amp;a pic.png"/>
          <p:cNvPicPr>
            <a:picLocks noChangeAspect="1"/>
          </p:cNvPicPr>
          <p:nvPr/>
        </p:nvPicPr>
        <p:blipFill>
          <a:blip r:embed="rId2"/>
          <a:stretch>
            <a:fillRect/>
          </a:stretch>
        </p:blipFill>
        <p:spPr>
          <a:xfrm>
            <a:off x="734291" y="651164"/>
            <a:ext cx="7668492" cy="38238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TotalTime>
  <Words>1183</Words>
  <Application>Microsoft Office PowerPoint</Application>
  <PresentationFormat>On-screen Show (16:9)</PresentationFormat>
  <Paragraphs>177</Paragraphs>
  <Slides>25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Bodoni MT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Ramarapu Dhanesh</cp:lastModifiedBy>
  <cp:revision>105</cp:revision>
  <dcterms:created xsi:type="dcterms:W3CDTF">2026-04-02T10:17:00Z</dcterms:created>
  <dcterms:modified xsi:type="dcterms:W3CDTF">2026-04-15T15:09:41Z</dcterms:modified>
</cp:coreProperties>
</file>